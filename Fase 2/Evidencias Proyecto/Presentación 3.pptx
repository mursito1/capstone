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p:regular r:id="rId26"/>
      <p:bold r:id="rId27"/>
      <p:italic r:id="rId28"/>
      <p:boldItalic r:id="rId29"/>
    </p:embeddedFont>
    <p:embeddedFont>
      <p:font typeface="Lato"/>
      <p:regular r:id="rId30"/>
      <p:bold r:id="rId31"/>
      <p:italic r:id="rId32"/>
      <p:boldItalic r:id="rId33"/>
    </p:embeddedFont>
    <p:embeddedFont>
      <p:font typeface="Maven Pro"/>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slide" Target="slides/slide20.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35" Type="http://schemas.openxmlformats.org/officeDocument/2006/relationships/font" Target="fonts/MavenPro-bold.fntdata"/><Relationship Id="rId12" Type="http://schemas.openxmlformats.org/officeDocument/2006/relationships/slide" Target="slides/slide7.xml"/><Relationship Id="rId34" Type="http://schemas.openxmlformats.org/officeDocument/2006/relationships/font" Target="fonts/MavenPro-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90c8120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990c8120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90c81202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990c81202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90c81202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90c81202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a3b7bd2fe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a3b7bd2fe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992c54cf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992c54cf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90c81202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90c81202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990c81202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990c81202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990c81202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990c81202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990c81202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990c81202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990c81202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990c81202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90c81202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990c81202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9b5b53b9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9b5b53b9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9b5b53b9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9b5b53b9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99b5b53b9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99b5b53b9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90c81202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90c81202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990c81202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990c81202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3b7bd2fe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a3b7bd2fe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90c81202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90c81202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990c81202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990c81202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publice.info/articulo/las-lesiones-y-su-relacion-con-el-rendimiento-deportivo-72-sa-G57cfb270eed1c?utm_source=chatgpt.com" TargetMode="External"/><Relationship Id="rId4" Type="http://schemas.openxmlformats.org/officeDocument/2006/relationships/hyperlink" Target="https://www.publice.info/articulo/las-lesiones-y-su-relacion-con-el-rendimiento-deportivo-72-sa-G57cfb270eed1c?utm_source=chatgpt.com" TargetMode="External"/><Relationship Id="rId10" Type="http://schemas.openxmlformats.org/officeDocument/2006/relationships/hyperlink" Target="https://revistas.umce.cl/index.php/refc/article/view/2890?utm_source=chatgpt.com" TargetMode="External"/><Relationship Id="rId9" Type="http://schemas.openxmlformats.org/officeDocument/2006/relationships/hyperlink" Target="https://revistas.umce.cl/index.php/refc/article/view/2890?utm_source=chatgpt.com" TargetMode="External"/><Relationship Id="rId5" Type="http://schemas.openxmlformats.org/officeDocument/2006/relationships/hyperlink" Target="https://www.physiotutors.com/es/research/preventing-running-related-injuries/?utm_source=chatgpt.com" TargetMode="External"/><Relationship Id="rId6" Type="http://schemas.openxmlformats.org/officeDocument/2006/relationships/hyperlink" Target="https://www.physiotutors.com/es/research/preventing-running-related-injuries/?utm_source=chatgpt.com" TargetMode="External"/><Relationship Id="rId7" Type="http://schemas.openxmlformats.org/officeDocument/2006/relationships/hyperlink" Target="https://www.latercera.com/que-pasa/noticia/inedito-estudio-revela-quienes-son-los-chilenos-mas-propensos-a-lesionarse-al-practicar-deporte/QMBRXW2EQJHD5CKDLMNL6WBR4U/?utm_source=chatgpt.com" TargetMode="External"/><Relationship Id="rId8" Type="http://schemas.openxmlformats.org/officeDocument/2006/relationships/hyperlink" Target="https://www.latercera.com/que-pasa/noticia/inedito-estudio-revela-quienes-son-los-chilenos-mas-propensos-a-lesionarse-al-practicar-deporte/QMBRXW2EQJHD5CKDLMNL6WBR4U/?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Proyecto: SportPlanner</a:t>
            </a:r>
            <a:endParaRPr/>
          </a:p>
        </p:txBody>
      </p:sp>
      <p:sp>
        <p:nvSpPr>
          <p:cNvPr id="278" name="Google Shape;278;p13"/>
          <p:cNvSpPr txBox="1"/>
          <p:nvPr>
            <p:ph idx="1" type="subTitle"/>
          </p:nvPr>
        </p:nvSpPr>
        <p:spPr>
          <a:xfrm>
            <a:off x="824000" y="3596300"/>
            <a:ext cx="3186300" cy="147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Integrantes: -Camilo Waghorn</a:t>
            </a:r>
            <a:endParaRPr/>
          </a:p>
          <a:p>
            <a:pPr indent="0" lvl="0" marL="0" rtl="0" algn="l">
              <a:spcBef>
                <a:spcPts val="0"/>
              </a:spcBef>
              <a:spcAft>
                <a:spcPts val="0"/>
              </a:spcAft>
              <a:buNone/>
            </a:pPr>
            <a:r>
              <a:rPr lang="es"/>
              <a:t>		    -Tomás Becerra</a:t>
            </a:r>
            <a:endParaRPr/>
          </a:p>
          <a:p>
            <a:pPr indent="0" lvl="0" marL="0" rtl="0" algn="l">
              <a:spcBef>
                <a:spcPts val="0"/>
              </a:spcBef>
              <a:spcAft>
                <a:spcPts val="0"/>
              </a:spcAft>
              <a:buNone/>
            </a:pPr>
            <a:r>
              <a:rPr lang="es"/>
              <a:t>		    -Martín Mur</a:t>
            </a:r>
            <a:endParaRPr/>
          </a:p>
          <a:p>
            <a:pPr indent="0" lvl="0" marL="0" rtl="0" algn="l">
              <a:spcBef>
                <a:spcPts val="0"/>
              </a:spcBef>
              <a:spcAft>
                <a:spcPts val="0"/>
              </a:spcAft>
              <a:buNone/>
            </a:pPr>
            <a:r>
              <a:rPr lang="es"/>
              <a:t>Docente: Aldo Martinez</a:t>
            </a:r>
            <a:endParaRPr/>
          </a:p>
          <a:p>
            <a:pPr indent="0" lvl="0" marL="0" rtl="0" algn="l">
              <a:spcBef>
                <a:spcPts val="0"/>
              </a:spcBef>
              <a:spcAft>
                <a:spcPts val="0"/>
              </a:spcAft>
              <a:buNone/>
            </a:pPr>
            <a:r>
              <a:rPr lang="es"/>
              <a:t>Asignatura: Capstone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Índice</a:t>
            </a:r>
            <a:endParaRPr/>
          </a:p>
        </p:txBody>
      </p:sp>
      <p:sp>
        <p:nvSpPr>
          <p:cNvPr id="284" name="Google Shape;284;p14"/>
          <p:cNvSpPr txBox="1"/>
          <p:nvPr>
            <p:ph idx="1" type="body"/>
          </p:nvPr>
        </p:nvSpPr>
        <p:spPr>
          <a:xfrm>
            <a:off x="1209150" y="1468600"/>
            <a:ext cx="5102700" cy="34443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Font typeface="Arial"/>
              <a:buAutoNum type="arabicPeriod"/>
            </a:pPr>
            <a:r>
              <a:rPr lang="es" sz="1100">
                <a:solidFill>
                  <a:srgbClr val="000000"/>
                </a:solidFill>
                <a:latin typeface="Arial"/>
                <a:ea typeface="Arial"/>
                <a:cs typeface="Arial"/>
                <a:sym typeface="Arial"/>
              </a:rPr>
              <a:t>Introducción</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AutoNum type="arabicPeriod"/>
            </a:pPr>
            <a:r>
              <a:rPr lang="es" sz="1100">
                <a:latin typeface="Arial"/>
                <a:ea typeface="Arial"/>
                <a:cs typeface="Arial"/>
                <a:sym typeface="Arial"/>
              </a:rPr>
              <a:t>Contexto y problemática</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Problemática</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Comparativa</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Competencias desarrolladas</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Alcance</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Target</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Mapa Tecnológico</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Herramientas para el desarrollo</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Metodología</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Sprint Planning y Product Backlog</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Sprint Retrospectives</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Desarrollo y riesgos</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Modelo de Negocio</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Demo Aplicación</a:t>
            </a: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AutoNum type="arabicPeriod"/>
            </a:pPr>
            <a:r>
              <a:rPr lang="es" sz="1100">
                <a:latin typeface="Arial"/>
                <a:ea typeface="Arial"/>
                <a:cs typeface="Arial"/>
                <a:sym typeface="Arial"/>
              </a:rPr>
              <a:t>Conclusión</a:t>
            </a:r>
            <a:endParaRPr sz="11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Introducción</a:t>
            </a:r>
            <a:endParaRPr/>
          </a:p>
        </p:txBody>
      </p:sp>
      <p:sp>
        <p:nvSpPr>
          <p:cNvPr id="290" name="Google Shape;290;p15"/>
          <p:cNvSpPr txBox="1"/>
          <p:nvPr/>
        </p:nvSpPr>
        <p:spPr>
          <a:xfrm>
            <a:off x="727650" y="2094150"/>
            <a:ext cx="8133000" cy="290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-En la actualidad, muchas personas buscan mejorar su rendimiento físico (Deportivo o general) y mantener un estilo de vida saludable</a:t>
            </a:r>
            <a:endParaRPr/>
          </a:p>
          <a:p>
            <a:pPr indent="0" lvl="0" marL="0" rtl="0" algn="l">
              <a:lnSpc>
                <a:spcPct val="115000"/>
              </a:lnSpc>
              <a:spcBef>
                <a:spcPts val="1200"/>
              </a:spcBef>
              <a:spcAft>
                <a:spcPts val="0"/>
              </a:spcAft>
              <a:buNone/>
            </a:pPr>
            <a:r>
              <a:rPr lang="es"/>
              <a:t>-Sport Planner, una aplicación móvil que combina planes de entrenamiento </a:t>
            </a:r>
            <a:r>
              <a:rPr lang="es"/>
              <a:t>específicos para distintos perfiles de usuario</a:t>
            </a:r>
            <a:endParaRPr/>
          </a:p>
          <a:p>
            <a:pPr indent="0" lvl="0" marL="0" rtl="0" algn="l">
              <a:lnSpc>
                <a:spcPct val="115000"/>
              </a:lnSpc>
              <a:spcBef>
                <a:spcPts val="1200"/>
              </a:spcBef>
              <a:spcAft>
                <a:spcPts val="0"/>
              </a:spcAft>
              <a:buNone/>
            </a:pPr>
            <a:r>
              <a:rPr lang="es"/>
              <a:t>-La aplicación integra herramientas de planificación, seguimiento y recomendaciones personalizadas</a:t>
            </a:r>
            <a:endParaRPr/>
          </a:p>
          <a:p>
            <a:pPr indent="0" lvl="0" marL="0" rtl="0" algn="l">
              <a:lnSpc>
                <a:spcPct val="115000"/>
              </a:lnSpc>
              <a:spcBef>
                <a:spcPts val="1200"/>
              </a:spcBef>
              <a:spcAft>
                <a:spcPts val="1200"/>
              </a:spcAft>
              <a:buNone/>
            </a:pPr>
            <a:r>
              <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Contexto y problemática</a:t>
            </a:r>
            <a:endParaRPr/>
          </a:p>
        </p:txBody>
      </p:sp>
      <p:sp>
        <p:nvSpPr>
          <p:cNvPr id="296" name="Google Shape;296;p16"/>
          <p:cNvSpPr txBox="1"/>
          <p:nvPr>
            <p:ph idx="1" type="body"/>
          </p:nvPr>
        </p:nvSpPr>
        <p:spPr>
          <a:xfrm>
            <a:off x="997050" y="1697550"/>
            <a:ext cx="7149900" cy="2986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s" sz="1200">
                <a:solidFill>
                  <a:srgbClr val="000000"/>
                </a:solidFill>
                <a:latin typeface="Arial"/>
                <a:ea typeface="Arial"/>
                <a:cs typeface="Arial"/>
                <a:sym typeface="Arial"/>
              </a:rPr>
              <a:t>Cada vez más personas buscan mejorar su condición física mediante entrenamientos autónomos. No obstante, la falta de conocimientos técnicos, una planificación inadecuada y la ausencia de acompañamiento profesional generan errores frecuentes que han incrementado las lesiones asociadas al ejercicio. Esto afecta la salud, detiene el progreso deportivo y produce frustración.</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s" sz="1200">
                <a:solidFill>
                  <a:srgbClr val="000000"/>
                </a:solidFill>
                <a:latin typeface="Arial"/>
                <a:ea typeface="Arial"/>
                <a:cs typeface="Arial"/>
                <a:sym typeface="Arial"/>
              </a:rPr>
              <a:t>Además, acceder a entrenadores personales implica un costo elevado que muchas personas no pueden asumir, ampliando la brecha entre quienes pueden contar con asesoría profesional y quienes dependen de información poco confiable disponible en internet.</a:t>
            </a:r>
            <a:endParaRPr sz="1200">
              <a:solidFill>
                <a:srgbClr val="000000"/>
              </a:solidFill>
              <a:latin typeface="Arial"/>
              <a:ea typeface="Arial"/>
              <a:cs typeface="Arial"/>
              <a:sym typeface="Arial"/>
            </a:endParaRPr>
          </a:p>
          <a:p>
            <a:pPr indent="0" lvl="0" marL="0" rtl="0" algn="l">
              <a:spcBef>
                <a:spcPts val="1200"/>
              </a:spcBef>
              <a:spcAft>
                <a:spcPts val="0"/>
              </a:spcAft>
              <a:buNone/>
            </a:pPr>
            <a:r>
              <a:rPr lang="es" sz="1200">
                <a:solidFill>
                  <a:srgbClr val="000000"/>
                </a:solidFill>
                <a:latin typeface="Arial"/>
                <a:ea typeface="Arial"/>
                <a:cs typeface="Arial"/>
                <a:sym typeface="Arial"/>
              </a:rPr>
              <a:t>Frente a este escenario, surge la necesidad de una solución accesible, personalizada y confiable. Por ello, nuestro proyecto propone desarrollar una aplicación que ofrece planes de entrenamiento específicos según el deporte del usuario, con el objetivo de reducir el riesgo de lesiones, mejorar la calidad del entrenamiento y democratizar el acceso a orientación deportiva de calidad.</a:t>
            </a:r>
            <a:endParaRPr sz="1200">
              <a:solidFill>
                <a:srgbClr val="000000"/>
              </a:solidFill>
              <a:latin typeface="Arial"/>
              <a:ea typeface="Arial"/>
              <a:cs typeface="Arial"/>
              <a:sym typeface="Arial"/>
            </a:endParaRPr>
          </a:p>
          <a:p>
            <a:pPr indent="0" lvl="0" marL="0" rtl="0" algn="l">
              <a:lnSpc>
                <a:spcPct val="115000"/>
              </a:lnSpc>
              <a:spcBef>
                <a:spcPts val="1200"/>
              </a:spcBef>
              <a:spcAft>
                <a:spcPts val="0"/>
              </a:spcAft>
              <a:buSzPts val="523"/>
              <a:buNone/>
            </a:pPr>
            <a:r>
              <a:t/>
            </a:r>
            <a:endParaRPr sz="1047">
              <a:solidFill>
                <a:srgbClr val="000000"/>
              </a:solidFill>
              <a:latin typeface="Arial"/>
              <a:ea typeface="Arial"/>
              <a:cs typeface="Arial"/>
              <a:sym typeface="Arial"/>
            </a:endParaRPr>
          </a:p>
          <a:p>
            <a:pPr indent="0" lvl="0" marL="0" rtl="0" algn="l">
              <a:lnSpc>
                <a:spcPct val="95000"/>
              </a:lnSpc>
              <a:spcBef>
                <a:spcPts val="1200"/>
              </a:spcBef>
              <a:spcAft>
                <a:spcPts val="1200"/>
              </a:spcAft>
              <a:buSzPts val="523"/>
              <a:buNone/>
            </a:pPr>
            <a:r>
              <a:t/>
            </a:r>
            <a:endParaRPr sz="617"/>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Problemática</a:t>
            </a:r>
            <a:endParaRPr/>
          </a:p>
        </p:txBody>
      </p:sp>
      <p:sp>
        <p:nvSpPr>
          <p:cNvPr id="302" name="Google Shape;302;p17"/>
          <p:cNvSpPr txBox="1"/>
          <p:nvPr>
            <p:ph idx="1" type="body"/>
          </p:nvPr>
        </p:nvSpPr>
        <p:spPr>
          <a:xfrm>
            <a:off x="997050" y="1501200"/>
            <a:ext cx="7149900" cy="3355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s" sz="800">
                <a:solidFill>
                  <a:srgbClr val="000000"/>
                </a:solidFill>
                <a:latin typeface="Arial"/>
                <a:ea typeface="Arial"/>
                <a:cs typeface="Arial"/>
                <a:sym typeface="Arial"/>
              </a:rPr>
              <a:t>Errores de entrenamiento como causa de lesiones</a:t>
            </a:r>
            <a:endParaRPr b="1" sz="8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lang="es" sz="800">
                <a:solidFill>
                  <a:srgbClr val="000000"/>
                </a:solidFill>
                <a:latin typeface="Arial"/>
                <a:ea typeface="Arial"/>
                <a:cs typeface="Arial"/>
                <a:sym typeface="Arial"/>
              </a:rPr>
              <a:t>En “Las lesiones y su relación con el rendimiento deportivo” se afirma que entre </a:t>
            </a:r>
            <a:r>
              <a:rPr b="1" lang="es" sz="800">
                <a:solidFill>
                  <a:srgbClr val="000000"/>
                </a:solidFill>
                <a:latin typeface="Arial"/>
                <a:ea typeface="Arial"/>
                <a:cs typeface="Arial"/>
                <a:sym typeface="Arial"/>
              </a:rPr>
              <a:t>30% y 60 %</a:t>
            </a:r>
            <a:r>
              <a:rPr lang="es" sz="800">
                <a:solidFill>
                  <a:srgbClr val="000000"/>
                </a:solidFill>
                <a:latin typeface="Arial"/>
                <a:ea typeface="Arial"/>
                <a:cs typeface="Arial"/>
                <a:sym typeface="Arial"/>
              </a:rPr>
              <a:t> de las lesiones se deben a errores metodológicos en el entrenamiento (ejemplo: aumento de carga muy rápido, mala técnica, falta de recuperación).</a:t>
            </a:r>
            <a:r>
              <a:rPr lang="es" sz="800">
                <a:solidFill>
                  <a:srgbClr val="000000"/>
                </a:solidFill>
                <a:uFill>
                  <a:noFill/>
                </a:uFill>
                <a:latin typeface="Arial"/>
                <a:ea typeface="Arial"/>
                <a:cs typeface="Arial"/>
                <a:sym typeface="Arial"/>
                <a:hlinkClick r:id="rId3">
                  <a:extLst>
                    <a:ext uri="{A12FA001-AC4F-418D-AE19-62706E023703}">
                      <ahyp:hlinkClr val="tx"/>
                    </a:ext>
                  </a:extLst>
                </a:hlinkClick>
              </a:rPr>
              <a:t> </a:t>
            </a:r>
            <a:r>
              <a:rPr lang="es" sz="800" u="sng">
                <a:solidFill>
                  <a:schemeClr val="hlink"/>
                </a:solidFill>
                <a:latin typeface="Arial"/>
                <a:ea typeface="Arial"/>
                <a:cs typeface="Arial"/>
                <a:sym typeface="Arial"/>
                <a:hlinkClick r:id="rId4"/>
              </a:rPr>
              <a:t>publice.info</a:t>
            </a:r>
            <a:endParaRPr sz="800" u="sng">
              <a:solidFill>
                <a:schemeClr val="hlink"/>
              </a:solidFill>
              <a:latin typeface="Arial"/>
              <a:ea typeface="Arial"/>
              <a:cs typeface="Arial"/>
              <a:sym typeface="Arial"/>
            </a:endParaRPr>
          </a:p>
          <a:p>
            <a:pPr indent="0" lvl="0" marL="0" rtl="0" algn="l">
              <a:spcBef>
                <a:spcPts val="1200"/>
              </a:spcBef>
              <a:spcAft>
                <a:spcPts val="0"/>
              </a:spcAft>
              <a:buNone/>
            </a:pPr>
            <a:r>
              <a:rPr b="1" lang="es" sz="800">
                <a:solidFill>
                  <a:srgbClr val="000000"/>
                </a:solidFill>
                <a:latin typeface="Arial"/>
                <a:ea typeface="Arial"/>
                <a:cs typeface="Arial"/>
                <a:sym typeface="Arial"/>
              </a:rPr>
              <a:t>Prevención en corredores</a:t>
            </a:r>
            <a:endParaRPr sz="800" u="sng">
              <a:solidFill>
                <a:schemeClr val="hlink"/>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lang="es" sz="800">
                <a:solidFill>
                  <a:srgbClr val="000000"/>
                </a:solidFill>
                <a:latin typeface="Arial"/>
                <a:ea typeface="Arial"/>
                <a:cs typeface="Arial"/>
                <a:sym typeface="Arial"/>
              </a:rPr>
              <a:t>Datos: de las lesiones registradas en su estudio, </a:t>
            </a:r>
            <a:r>
              <a:rPr b="1" lang="es" sz="800">
                <a:solidFill>
                  <a:srgbClr val="000000"/>
                </a:solidFill>
                <a:latin typeface="Arial"/>
                <a:ea typeface="Arial"/>
                <a:cs typeface="Arial"/>
                <a:sym typeface="Arial"/>
              </a:rPr>
              <a:t>87% fueron por sobreuso</a:t>
            </a:r>
            <a:r>
              <a:rPr lang="es" sz="800">
                <a:solidFill>
                  <a:srgbClr val="000000"/>
                </a:solidFill>
                <a:latin typeface="Arial"/>
                <a:ea typeface="Arial"/>
                <a:cs typeface="Arial"/>
                <a:sym typeface="Arial"/>
              </a:rPr>
              <a:t> durante el entrenamiento.</a:t>
            </a:r>
            <a:r>
              <a:rPr lang="es" sz="800">
                <a:solidFill>
                  <a:srgbClr val="000000"/>
                </a:solidFill>
                <a:uFill>
                  <a:noFill/>
                </a:uFill>
                <a:latin typeface="Arial"/>
                <a:ea typeface="Arial"/>
                <a:cs typeface="Arial"/>
                <a:sym typeface="Arial"/>
                <a:hlinkClick r:id="rId5">
                  <a:extLst>
                    <a:ext uri="{A12FA001-AC4F-418D-AE19-62706E023703}">
                      <ahyp:hlinkClr val="tx"/>
                    </a:ext>
                  </a:extLst>
                </a:hlinkClick>
              </a:rPr>
              <a:t> </a:t>
            </a:r>
            <a:r>
              <a:rPr lang="es" sz="800" u="sng">
                <a:solidFill>
                  <a:schemeClr val="hlink"/>
                </a:solidFill>
                <a:latin typeface="Arial"/>
                <a:ea typeface="Arial"/>
                <a:cs typeface="Arial"/>
                <a:sym typeface="Arial"/>
                <a:hlinkClick r:id="rId6"/>
              </a:rPr>
              <a:t>Physiotutors</a:t>
            </a:r>
            <a:endParaRPr sz="800" u="sng">
              <a:solidFill>
                <a:schemeClr val="hlink"/>
              </a:solidFill>
              <a:latin typeface="Arial"/>
              <a:ea typeface="Arial"/>
              <a:cs typeface="Arial"/>
              <a:sym typeface="Arial"/>
            </a:endParaRPr>
          </a:p>
          <a:p>
            <a:pPr indent="-279400" lvl="0" marL="457200" rtl="0" algn="l">
              <a:spcBef>
                <a:spcPts val="0"/>
              </a:spcBef>
              <a:spcAft>
                <a:spcPts val="0"/>
              </a:spcAft>
              <a:buClr>
                <a:srgbClr val="000000"/>
              </a:buClr>
              <a:buSzPts val="800"/>
              <a:buFont typeface="Arial"/>
              <a:buChar char="●"/>
            </a:pPr>
            <a:r>
              <a:rPr lang="es" sz="800">
                <a:solidFill>
                  <a:srgbClr val="000000"/>
                </a:solidFill>
                <a:latin typeface="Arial"/>
                <a:ea typeface="Arial"/>
                <a:cs typeface="Arial"/>
                <a:sym typeface="Arial"/>
              </a:rPr>
              <a:t>Esto es relevante porque muchas lesiones al entrenar por cuenta propia pueden venir por sobreuso, mala progresión o técnica incorrecta.</a:t>
            </a:r>
            <a:endParaRPr sz="800">
              <a:solidFill>
                <a:srgbClr val="000000"/>
              </a:solidFill>
              <a:latin typeface="Arial"/>
              <a:ea typeface="Arial"/>
              <a:cs typeface="Arial"/>
              <a:sym typeface="Arial"/>
            </a:endParaRPr>
          </a:p>
          <a:p>
            <a:pPr indent="0" lvl="0" marL="0" rtl="0" algn="l">
              <a:spcBef>
                <a:spcPts val="1200"/>
              </a:spcBef>
              <a:spcAft>
                <a:spcPts val="0"/>
              </a:spcAft>
              <a:buNone/>
            </a:pPr>
            <a:r>
              <a:rPr b="1" lang="es" sz="800">
                <a:solidFill>
                  <a:srgbClr val="000000"/>
                </a:solidFill>
                <a:latin typeface="Arial"/>
                <a:ea typeface="Arial"/>
                <a:cs typeface="Arial"/>
                <a:sym typeface="Arial"/>
              </a:rPr>
              <a:t>Estudio en Chile sobre riesgo de lesión según tipo de entrenamiento</a:t>
            </a:r>
            <a:endParaRPr b="1" sz="8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ts val="800"/>
              <a:buFont typeface="Arial"/>
              <a:buChar char="●"/>
            </a:pPr>
            <a:r>
              <a:rPr lang="es" sz="800">
                <a:solidFill>
                  <a:srgbClr val="000000"/>
                </a:solidFill>
                <a:latin typeface="Arial"/>
                <a:ea typeface="Arial"/>
                <a:cs typeface="Arial"/>
                <a:sym typeface="Arial"/>
              </a:rPr>
              <a:t>La Tercera reportó un estudio de la Universidad de los Andes en Chile donde uno de los factores que más se relaciona con lesiones es la “cantidad y tipo de entrenamiento” (por ejemplo cambios muy bruscos de carga)</a:t>
            </a:r>
            <a:r>
              <a:rPr lang="es" sz="800">
                <a:solidFill>
                  <a:srgbClr val="000000"/>
                </a:solidFill>
                <a:uFill>
                  <a:noFill/>
                </a:uFill>
                <a:latin typeface="Arial"/>
                <a:ea typeface="Arial"/>
                <a:cs typeface="Arial"/>
                <a:sym typeface="Arial"/>
                <a:hlinkClick r:id="rId7">
                  <a:extLst>
                    <a:ext uri="{A12FA001-AC4F-418D-AE19-62706E023703}">
                      <ahyp:hlinkClr val="tx"/>
                    </a:ext>
                  </a:extLst>
                </a:hlinkClick>
              </a:rPr>
              <a:t> </a:t>
            </a:r>
            <a:r>
              <a:rPr lang="es" sz="800" u="sng">
                <a:solidFill>
                  <a:schemeClr val="hlink"/>
                </a:solidFill>
                <a:latin typeface="Arial"/>
                <a:ea typeface="Arial"/>
                <a:cs typeface="Arial"/>
                <a:sym typeface="Arial"/>
                <a:hlinkClick r:id="rId8"/>
              </a:rPr>
              <a:t>La Tercera</a:t>
            </a:r>
            <a:endParaRPr sz="800">
              <a:solidFill>
                <a:srgbClr val="000000"/>
              </a:solidFill>
              <a:latin typeface="Arial"/>
              <a:ea typeface="Arial"/>
              <a:cs typeface="Arial"/>
              <a:sym typeface="Arial"/>
            </a:endParaRPr>
          </a:p>
          <a:p>
            <a:pPr indent="0" lvl="0" marL="0" rtl="0" algn="l">
              <a:spcBef>
                <a:spcPts val="1200"/>
              </a:spcBef>
              <a:spcAft>
                <a:spcPts val="0"/>
              </a:spcAft>
              <a:buNone/>
            </a:pPr>
            <a:r>
              <a:rPr b="1" lang="es" sz="800">
                <a:solidFill>
                  <a:srgbClr val="000000"/>
                </a:solidFill>
                <a:latin typeface="Arial"/>
                <a:ea typeface="Arial"/>
                <a:cs typeface="Arial"/>
                <a:sym typeface="Arial"/>
              </a:rPr>
              <a:t>Entrenamiento de fuerza y prevención de lesiones en no profesionales</a:t>
            </a:r>
            <a:endParaRPr b="1" sz="800">
              <a:solidFill>
                <a:srgbClr val="000000"/>
              </a:solidFill>
              <a:latin typeface="Arial"/>
              <a:ea typeface="Arial"/>
              <a:cs typeface="Arial"/>
              <a:sym typeface="Arial"/>
            </a:endParaRPr>
          </a:p>
          <a:p>
            <a:pPr indent="-279400" lvl="0" marL="457200" rtl="0" algn="l">
              <a:spcBef>
                <a:spcPts val="1200"/>
              </a:spcBef>
              <a:spcAft>
                <a:spcPts val="0"/>
              </a:spcAft>
              <a:buSzPts val="800"/>
              <a:buFont typeface="Arial"/>
              <a:buChar char="●"/>
            </a:pPr>
            <a:r>
              <a:rPr lang="es" sz="800">
                <a:solidFill>
                  <a:srgbClr val="000000"/>
                </a:solidFill>
                <a:latin typeface="Arial"/>
                <a:ea typeface="Arial"/>
                <a:cs typeface="Arial"/>
                <a:sym typeface="Arial"/>
              </a:rPr>
              <a:t>Revisión sistematizada: “El Entrenamiento de la fuerza como método preventivo de las lesiones en tenistas de nivel no profesional” (UMCE, 2024)</a:t>
            </a:r>
            <a:r>
              <a:rPr lang="es" sz="800">
                <a:solidFill>
                  <a:srgbClr val="000000"/>
                </a:solidFill>
                <a:uFill>
                  <a:noFill/>
                </a:uFill>
                <a:latin typeface="Arial"/>
                <a:ea typeface="Arial"/>
                <a:cs typeface="Arial"/>
                <a:sym typeface="Arial"/>
                <a:hlinkClick r:id="rId9">
                  <a:extLst>
                    <a:ext uri="{A12FA001-AC4F-418D-AE19-62706E023703}">
                      <ahyp:hlinkClr val="tx"/>
                    </a:ext>
                  </a:extLst>
                </a:hlinkClick>
              </a:rPr>
              <a:t> </a:t>
            </a:r>
            <a:r>
              <a:rPr lang="es" sz="800" u="sng">
                <a:solidFill>
                  <a:schemeClr val="hlink"/>
                </a:solidFill>
                <a:latin typeface="Arial"/>
                <a:ea typeface="Arial"/>
                <a:cs typeface="Arial"/>
                <a:sym typeface="Arial"/>
                <a:hlinkClick r:id="rId10"/>
              </a:rPr>
              <a:t>Revistas UMCE</a:t>
            </a:r>
            <a:br>
              <a:rPr lang="es" sz="800">
                <a:solidFill>
                  <a:srgbClr val="000000"/>
                </a:solidFill>
                <a:latin typeface="Arial"/>
                <a:ea typeface="Arial"/>
                <a:cs typeface="Arial"/>
                <a:sym typeface="Arial"/>
              </a:rPr>
            </a:br>
            <a:r>
              <a:rPr lang="es" sz="800">
                <a:solidFill>
                  <a:srgbClr val="000000"/>
                </a:solidFill>
                <a:latin typeface="Arial"/>
                <a:ea typeface="Arial"/>
                <a:cs typeface="Arial"/>
                <a:sym typeface="Arial"/>
              </a:rPr>
              <a:t>Conclusión: el entrenamiento de fuerza (bien diseñado) puede reducir la prevalencia de lesiones, lo que refuerza la idea de entregar planes estructurados y seguros en nuestra app.</a:t>
            </a:r>
            <a:br>
              <a:rPr lang="es" sz="800">
                <a:solidFill>
                  <a:srgbClr val="000000"/>
                </a:solidFill>
                <a:latin typeface="Arial"/>
                <a:ea typeface="Arial"/>
                <a:cs typeface="Arial"/>
                <a:sym typeface="Arial"/>
              </a:rPr>
            </a:br>
            <a:endParaRPr sz="800">
              <a:solidFill>
                <a:srgbClr val="000000"/>
              </a:solidFill>
              <a:latin typeface="Arial"/>
              <a:ea typeface="Arial"/>
              <a:cs typeface="Arial"/>
              <a:sym typeface="Arial"/>
            </a:endParaRPr>
          </a:p>
          <a:p>
            <a:pPr indent="0" lvl="0" marL="0" rtl="0" algn="l">
              <a:spcBef>
                <a:spcPts val="1200"/>
              </a:spcBef>
              <a:spcAft>
                <a:spcPts val="0"/>
              </a:spcAft>
              <a:buNone/>
            </a:pPr>
            <a:r>
              <a:t/>
            </a:r>
            <a:endParaRPr sz="800">
              <a:solidFill>
                <a:srgbClr val="000000"/>
              </a:solidFill>
              <a:latin typeface="Arial"/>
              <a:ea typeface="Arial"/>
              <a:cs typeface="Arial"/>
              <a:sym typeface="Arial"/>
            </a:endParaRPr>
          </a:p>
          <a:p>
            <a:pPr indent="0" lvl="0" marL="0" rtl="0" algn="l">
              <a:spcBef>
                <a:spcPts val="1200"/>
              </a:spcBef>
              <a:spcAft>
                <a:spcPts val="0"/>
              </a:spcAft>
              <a:buNone/>
            </a:pPr>
            <a:r>
              <a:t/>
            </a:r>
            <a:endParaRPr sz="800">
              <a:solidFill>
                <a:srgbClr val="000000"/>
              </a:solidFill>
              <a:latin typeface="Arial"/>
              <a:ea typeface="Arial"/>
              <a:cs typeface="Arial"/>
              <a:sym typeface="Arial"/>
            </a:endParaRPr>
          </a:p>
          <a:p>
            <a:pPr indent="0" lvl="0" marL="0" rtl="0" algn="l">
              <a:spcBef>
                <a:spcPts val="1200"/>
              </a:spcBef>
              <a:spcAft>
                <a:spcPts val="1200"/>
              </a:spcAft>
              <a:buNone/>
            </a:pPr>
            <a:r>
              <a:t/>
            </a:r>
            <a:endParaRPr sz="8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Comparativa</a:t>
            </a:r>
            <a:endParaRPr/>
          </a:p>
        </p:txBody>
      </p:sp>
      <p:sp>
        <p:nvSpPr>
          <p:cNvPr id="308" name="Google Shape;308;p18"/>
          <p:cNvSpPr txBox="1"/>
          <p:nvPr>
            <p:ph idx="1" type="body"/>
          </p:nvPr>
        </p:nvSpPr>
        <p:spPr>
          <a:xfrm>
            <a:off x="980200" y="1494050"/>
            <a:ext cx="7354200" cy="34647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lang="es" sz="1132">
                <a:solidFill>
                  <a:srgbClr val="000000"/>
                </a:solidFill>
                <a:latin typeface="Arial"/>
                <a:ea typeface="Arial"/>
                <a:cs typeface="Arial"/>
                <a:sym typeface="Arial"/>
              </a:rPr>
              <a:t>A diferencia de las aplicaciones tradicionales de fitness, que generalmente ofrecen rutinas genéricas y poco adaptadas a las necesidades reales de cada persona, nuestra aplicación está diseñada para entregar entrenamientos verdaderamente personalizados según el deporte, el nivel, los objetivos y el perfil físico del usuario. Esto permite reducir riesgos de lesiones y mejorar el rendimiento de manera más eficiente y segura.</a:t>
            </a:r>
            <a:br>
              <a:rPr lang="es" sz="1132">
                <a:solidFill>
                  <a:srgbClr val="000000"/>
                </a:solidFill>
                <a:latin typeface="Arial"/>
                <a:ea typeface="Arial"/>
                <a:cs typeface="Arial"/>
                <a:sym typeface="Arial"/>
              </a:rPr>
            </a:br>
            <a:r>
              <a:rPr lang="es" sz="1132">
                <a:solidFill>
                  <a:srgbClr val="000000"/>
                </a:solidFill>
                <a:latin typeface="Arial"/>
                <a:ea typeface="Arial"/>
                <a:cs typeface="Arial"/>
                <a:sym typeface="Arial"/>
              </a:rPr>
              <a:t>Principales motivos que diferencian nuestra app:</a:t>
            </a:r>
            <a:endParaRPr sz="1132">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 sz="1132">
                <a:solidFill>
                  <a:srgbClr val="000000"/>
                </a:solidFill>
                <a:latin typeface="Arial"/>
                <a:ea typeface="Arial"/>
                <a:cs typeface="Arial"/>
                <a:sym typeface="Arial"/>
              </a:rPr>
              <a:t>1. Personalización basada en IA y datos reales del usuario</a:t>
            </a:r>
            <a:endParaRPr sz="1132">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 sz="1132">
                <a:solidFill>
                  <a:srgbClr val="000000"/>
                </a:solidFill>
                <a:latin typeface="Arial"/>
                <a:ea typeface="Arial"/>
                <a:cs typeface="Arial"/>
                <a:sym typeface="Arial"/>
              </a:rPr>
              <a:t>2. Enfoque específico por deporte (no solo fitness general): Muchas apps se centran solamente en: Rutinas de gimnasio, cardio general, HIIT, yoga, entrenamientos en casa. Ejemplos: Nike Training Club, Adidas Training, Freeletics, Fitbod.</a:t>
            </a:r>
            <a:endParaRPr sz="1132">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 sz="1132">
                <a:solidFill>
                  <a:srgbClr val="000000"/>
                </a:solidFill>
                <a:latin typeface="Arial"/>
                <a:ea typeface="Arial"/>
                <a:cs typeface="Arial"/>
                <a:sym typeface="Arial"/>
              </a:rPr>
              <a:t>3. Reducción del riesgo de lesiones</a:t>
            </a:r>
            <a:endParaRPr sz="1132">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 sz="1132">
                <a:solidFill>
                  <a:srgbClr val="000000"/>
                </a:solidFill>
                <a:latin typeface="Arial"/>
                <a:ea typeface="Arial"/>
                <a:cs typeface="Arial"/>
                <a:sym typeface="Arial"/>
              </a:rPr>
              <a:t>4. Tienda integrada con productos externos</a:t>
            </a:r>
            <a:endParaRPr sz="1132">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s" sz="1132">
                <a:solidFill>
                  <a:srgbClr val="000000"/>
                </a:solidFill>
                <a:latin typeface="Arial"/>
                <a:ea typeface="Arial"/>
                <a:cs typeface="Arial"/>
                <a:sym typeface="Arial"/>
              </a:rPr>
              <a:t>5. Asequible y accesible para todos</a:t>
            </a:r>
            <a:endParaRPr sz="1132">
              <a:solidFill>
                <a:srgbClr val="000000"/>
              </a:solidFill>
              <a:latin typeface="Arial"/>
              <a:ea typeface="Arial"/>
              <a:cs typeface="Arial"/>
              <a:sym typeface="Arial"/>
            </a:endParaRPr>
          </a:p>
          <a:p>
            <a:pPr indent="0" lvl="0" marL="0" rtl="0" algn="l">
              <a:lnSpc>
                <a:spcPct val="100000"/>
              </a:lnSpc>
              <a:spcBef>
                <a:spcPts val="1200"/>
              </a:spcBef>
              <a:spcAft>
                <a:spcPts val="1200"/>
              </a:spcAft>
              <a:buNone/>
            </a:pPr>
            <a:r>
              <a:t/>
            </a:r>
            <a:endParaRPr sz="10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Competencias desarrolladas</a:t>
            </a:r>
            <a:endParaRPr/>
          </a:p>
        </p:txBody>
      </p:sp>
      <p:sp>
        <p:nvSpPr>
          <p:cNvPr id="314" name="Google Shape;314;p1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lnSpc>
                <a:spcPct val="107916"/>
              </a:lnSpc>
              <a:spcBef>
                <a:spcPts val="0"/>
              </a:spcBef>
              <a:spcAft>
                <a:spcPts val="0"/>
              </a:spcAft>
              <a:buNone/>
            </a:pPr>
            <a:r>
              <a:rPr lang="es" sz="1700">
                <a:solidFill>
                  <a:srgbClr val="000000"/>
                </a:solidFill>
                <a:latin typeface="Calibri"/>
                <a:ea typeface="Calibri"/>
                <a:cs typeface="Calibri"/>
                <a:sym typeface="Calibri"/>
              </a:rPr>
              <a:t>-Diseño, desarrollo e </a:t>
            </a:r>
            <a:r>
              <a:rPr lang="es" sz="1700">
                <a:solidFill>
                  <a:srgbClr val="000000"/>
                </a:solidFill>
                <a:latin typeface="Calibri"/>
                <a:ea typeface="Calibri"/>
                <a:cs typeface="Calibri"/>
                <a:sym typeface="Calibri"/>
              </a:rPr>
              <a:t>implementación</a:t>
            </a:r>
            <a:r>
              <a:rPr lang="es" sz="1700">
                <a:solidFill>
                  <a:srgbClr val="000000"/>
                </a:solidFill>
                <a:latin typeface="Calibri"/>
                <a:ea typeface="Calibri"/>
                <a:cs typeface="Calibri"/>
                <a:sym typeface="Calibri"/>
              </a:rPr>
              <a:t> de soluciones tecnológicas alineadas a requerimientos funcionales y no funcionales.</a:t>
            </a:r>
            <a:endParaRPr sz="1700">
              <a:solidFill>
                <a:srgbClr val="000000"/>
              </a:solidFill>
              <a:latin typeface="Calibri"/>
              <a:ea typeface="Calibri"/>
              <a:cs typeface="Calibri"/>
              <a:sym typeface="Calibri"/>
            </a:endParaRPr>
          </a:p>
          <a:p>
            <a:pPr indent="0" lvl="0" marL="0" rtl="0" algn="l">
              <a:lnSpc>
                <a:spcPct val="107916"/>
              </a:lnSpc>
              <a:spcBef>
                <a:spcPts val="800"/>
              </a:spcBef>
              <a:spcAft>
                <a:spcPts val="0"/>
              </a:spcAft>
              <a:buNone/>
            </a:pPr>
            <a:r>
              <a:rPr lang="es" sz="1700">
                <a:solidFill>
                  <a:srgbClr val="000000"/>
                </a:solidFill>
                <a:latin typeface="Calibri"/>
                <a:ea typeface="Calibri"/>
                <a:cs typeface="Calibri"/>
                <a:sym typeface="Calibri"/>
              </a:rPr>
              <a:t>-</a:t>
            </a:r>
            <a:r>
              <a:rPr lang="es" sz="1700">
                <a:solidFill>
                  <a:srgbClr val="000000"/>
                </a:solidFill>
                <a:latin typeface="Calibri"/>
                <a:ea typeface="Calibri"/>
                <a:cs typeface="Calibri"/>
                <a:sym typeface="Calibri"/>
              </a:rPr>
              <a:t>Administración</a:t>
            </a:r>
            <a:r>
              <a:rPr lang="es" sz="1700">
                <a:solidFill>
                  <a:srgbClr val="000000"/>
                </a:solidFill>
                <a:latin typeface="Calibri"/>
                <a:ea typeface="Calibri"/>
                <a:cs typeface="Calibri"/>
                <a:sym typeface="Calibri"/>
              </a:rPr>
              <a:t> de bases de datos y proceso de información para la toma de decisiones.</a:t>
            </a:r>
            <a:endParaRPr sz="1700">
              <a:solidFill>
                <a:srgbClr val="000000"/>
              </a:solidFill>
              <a:latin typeface="Calibri"/>
              <a:ea typeface="Calibri"/>
              <a:cs typeface="Calibri"/>
              <a:sym typeface="Calibri"/>
            </a:endParaRPr>
          </a:p>
          <a:p>
            <a:pPr indent="0" lvl="0" marL="0" rtl="0" algn="l">
              <a:lnSpc>
                <a:spcPct val="107916"/>
              </a:lnSpc>
              <a:spcBef>
                <a:spcPts val="800"/>
              </a:spcBef>
              <a:spcAft>
                <a:spcPts val="0"/>
              </a:spcAft>
              <a:buNone/>
            </a:pPr>
            <a:r>
              <a:rPr lang="es" sz="1700">
                <a:solidFill>
                  <a:srgbClr val="000000"/>
                </a:solidFill>
                <a:latin typeface="Calibri"/>
                <a:ea typeface="Calibri"/>
                <a:cs typeface="Calibri"/>
                <a:sym typeface="Calibri"/>
              </a:rPr>
              <a:t>-</a:t>
            </a:r>
            <a:r>
              <a:rPr lang="es" sz="1700">
                <a:solidFill>
                  <a:srgbClr val="000000"/>
                </a:solidFill>
                <a:latin typeface="Calibri"/>
                <a:ea typeface="Calibri"/>
                <a:cs typeface="Calibri"/>
                <a:sym typeface="Calibri"/>
              </a:rPr>
              <a:t>Integración</a:t>
            </a:r>
            <a:r>
              <a:rPr lang="es" sz="1700">
                <a:solidFill>
                  <a:srgbClr val="000000"/>
                </a:solidFill>
                <a:latin typeface="Calibri"/>
                <a:ea typeface="Calibri"/>
                <a:cs typeface="Calibri"/>
                <a:sym typeface="Calibri"/>
              </a:rPr>
              <a:t> de herramientas para el desarrollo de software de calidad.</a:t>
            </a:r>
            <a:br>
              <a:rPr lang="es" sz="1700">
                <a:solidFill>
                  <a:srgbClr val="000000"/>
                </a:solidFill>
                <a:latin typeface="Calibri"/>
                <a:ea typeface="Calibri"/>
                <a:cs typeface="Calibri"/>
                <a:sym typeface="Calibri"/>
              </a:rPr>
            </a:br>
            <a:r>
              <a:rPr lang="es" sz="1700">
                <a:solidFill>
                  <a:srgbClr val="000000"/>
                </a:solidFill>
                <a:latin typeface="Calibri"/>
                <a:ea typeface="Calibri"/>
                <a:cs typeface="Calibri"/>
                <a:sym typeface="Calibri"/>
              </a:rPr>
              <a:t>-</a:t>
            </a:r>
            <a:r>
              <a:rPr lang="es" sz="1700">
                <a:solidFill>
                  <a:srgbClr val="000000"/>
                </a:solidFill>
                <a:latin typeface="Calibri"/>
                <a:ea typeface="Calibri"/>
                <a:cs typeface="Calibri"/>
                <a:sym typeface="Calibri"/>
              </a:rPr>
              <a:t>Aplicación</a:t>
            </a:r>
            <a:r>
              <a:rPr lang="es" sz="1700">
                <a:solidFill>
                  <a:srgbClr val="000000"/>
                </a:solidFill>
                <a:latin typeface="Calibri"/>
                <a:ea typeface="Calibri"/>
                <a:cs typeface="Calibri"/>
                <a:sym typeface="Calibri"/>
              </a:rPr>
              <a:t> de metodologías ágiles y gestión de proyectos informáticos.</a:t>
            </a:r>
            <a:endParaRPr sz="1700">
              <a:solidFill>
                <a:srgbClr val="000000"/>
              </a:solidFill>
              <a:latin typeface="Calibri"/>
              <a:ea typeface="Calibri"/>
              <a:cs typeface="Calibri"/>
              <a:sym typeface="Calibri"/>
            </a:endParaRPr>
          </a:p>
          <a:p>
            <a:pPr indent="0" lvl="0" marL="0" rtl="0" algn="l">
              <a:lnSpc>
                <a:spcPct val="107916"/>
              </a:lnSpc>
              <a:spcBef>
                <a:spcPts val="800"/>
              </a:spcBef>
              <a:spcAft>
                <a:spcPts val="800"/>
              </a:spcAft>
              <a:buNone/>
            </a:pPr>
            <a:r>
              <a:rPr lang="es" sz="1700">
                <a:solidFill>
                  <a:srgbClr val="000000"/>
                </a:solidFill>
                <a:latin typeface="Calibri"/>
                <a:ea typeface="Calibri"/>
                <a:cs typeface="Calibri"/>
                <a:sym typeface="Calibri"/>
              </a:rPr>
              <a:t>-Integración de modelos de predicción de Machine Learning.</a:t>
            </a:r>
            <a:endParaRPr sz="1700">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Alcance</a:t>
            </a:r>
            <a:endParaRPr/>
          </a:p>
        </p:txBody>
      </p:sp>
      <p:sp>
        <p:nvSpPr>
          <p:cNvPr id="320" name="Google Shape;320;p2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700">
                <a:solidFill>
                  <a:srgbClr val="000000"/>
                </a:solidFill>
                <a:latin typeface="Arial"/>
                <a:ea typeface="Arial"/>
                <a:cs typeface="Arial"/>
                <a:sym typeface="Arial"/>
              </a:rPr>
              <a:t>El alcance de la aplicación comprende el diseño, desarrollo e implementación de una plataforma móvil completa que combina entrenamientos personalizados con IA, progreso de entrenamientos y una tienda de productos para deportistas y personas que realizan actividad física de manera autónoma, manteniendo costos bajos, escalabilidad y enfoque en seguridad.</a:t>
            </a:r>
            <a:endParaRPr sz="17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Target</a:t>
            </a:r>
            <a:endParaRPr/>
          </a:p>
        </p:txBody>
      </p:sp>
      <p:sp>
        <p:nvSpPr>
          <p:cNvPr id="326" name="Google Shape;326;p21"/>
          <p:cNvSpPr txBox="1"/>
          <p:nvPr/>
        </p:nvSpPr>
        <p:spPr>
          <a:xfrm>
            <a:off x="286850" y="2032975"/>
            <a:ext cx="2789400" cy="2757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1400"/>
              </a:spcBef>
              <a:spcAft>
                <a:spcPts val="0"/>
              </a:spcAft>
              <a:buNone/>
            </a:pPr>
            <a:r>
              <a:rPr b="1" lang="es" sz="1200"/>
              <a:t>Principal – Deportistas Amateurs</a:t>
            </a:r>
            <a:endParaRPr b="1" sz="1200"/>
          </a:p>
          <a:p>
            <a:pPr indent="-298450" lvl="0" marL="457200" rtl="0" algn="l">
              <a:spcBef>
                <a:spcPts val="1200"/>
              </a:spcBef>
              <a:spcAft>
                <a:spcPts val="0"/>
              </a:spcAft>
              <a:buClr>
                <a:srgbClr val="000000"/>
              </a:buClr>
              <a:buSzPts val="1100"/>
              <a:buFont typeface="Arial"/>
              <a:buChar char="●"/>
            </a:pPr>
            <a:r>
              <a:rPr lang="es" sz="1100"/>
              <a:t>Personas que desean mejorar en un deporte específico o simplemente su condición física en general.</a:t>
            </a:r>
            <a:br>
              <a:rPr lang="es" sz="1100"/>
            </a:br>
            <a:endParaRPr sz="1100"/>
          </a:p>
          <a:p>
            <a:pPr indent="-298450" lvl="0" marL="457200" rtl="0" algn="l">
              <a:spcBef>
                <a:spcPts val="0"/>
              </a:spcBef>
              <a:spcAft>
                <a:spcPts val="0"/>
              </a:spcAft>
              <a:buClr>
                <a:srgbClr val="000000"/>
              </a:buClr>
              <a:buSzPts val="1100"/>
              <a:buFont typeface="Arial"/>
              <a:buChar char="●"/>
            </a:pPr>
            <a:r>
              <a:rPr lang="es" sz="1100"/>
              <a:t>No cuentan con entrenadores personalizados.</a:t>
            </a:r>
            <a:br>
              <a:rPr lang="es" sz="1100"/>
            </a:br>
            <a:endParaRPr sz="1100"/>
          </a:p>
          <a:p>
            <a:pPr indent="-298450" lvl="0" marL="457200" rtl="0" algn="l">
              <a:spcBef>
                <a:spcPts val="0"/>
              </a:spcBef>
              <a:spcAft>
                <a:spcPts val="0"/>
              </a:spcAft>
              <a:buClr>
                <a:srgbClr val="000000"/>
              </a:buClr>
              <a:buSzPts val="1100"/>
              <a:buFont typeface="Arial"/>
              <a:buChar char="●"/>
            </a:pPr>
            <a:r>
              <a:rPr lang="es" sz="1100"/>
              <a:t>Buscan una solución accesible y práctica para progresar por su cuenta con apoyo digital.</a:t>
            </a:r>
            <a:endParaRPr sz="1100"/>
          </a:p>
          <a:p>
            <a:pPr indent="0" lvl="0" marL="0" rtl="0" algn="l">
              <a:lnSpc>
                <a:spcPct val="95000"/>
              </a:lnSpc>
              <a:spcBef>
                <a:spcPts val="1200"/>
              </a:spcBef>
              <a:spcAft>
                <a:spcPts val="1200"/>
              </a:spcAft>
              <a:buNone/>
            </a:pPr>
            <a:r>
              <a:t/>
            </a:r>
            <a:endParaRPr sz="1300">
              <a:solidFill>
                <a:srgbClr val="595959"/>
              </a:solidFill>
              <a:latin typeface="Lato"/>
              <a:ea typeface="Lato"/>
              <a:cs typeface="Lato"/>
              <a:sym typeface="Lato"/>
            </a:endParaRPr>
          </a:p>
        </p:txBody>
      </p:sp>
      <p:sp>
        <p:nvSpPr>
          <p:cNvPr id="327" name="Google Shape;327;p21"/>
          <p:cNvSpPr txBox="1"/>
          <p:nvPr/>
        </p:nvSpPr>
        <p:spPr>
          <a:xfrm>
            <a:off x="3190800" y="2032975"/>
            <a:ext cx="2766000" cy="2757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s" sz="1200"/>
              <a:t>Secundario – Semiprofesionales y Jóvenes Talentos</a:t>
            </a:r>
            <a:endParaRPr b="1" sz="1200"/>
          </a:p>
          <a:p>
            <a:pPr indent="-298450" lvl="0" marL="457200" rtl="0" algn="l">
              <a:lnSpc>
                <a:spcPct val="100000"/>
              </a:lnSpc>
              <a:spcBef>
                <a:spcPts val="1200"/>
              </a:spcBef>
              <a:spcAft>
                <a:spcPts val="0"/>
              </a:spcAft>
              <a:buSzPts val="1100"/>
              <a:buChar char="●"/>
            </a:pPr>
            <a:r>
              <a:rPr lang="es" sz="1100"/>
              <a:t>Atletas en formación que compiten en clubes, ligas locales o universidades.</a:t>
            </a:r>
            <a:br>
              <a:rPr lang="es" sz="1100"/>
            </a:br>
            <a:endParaRPr sz="1100"/>
          </a:p>
          <a:p>
            <a:pPr indent="-298450" lvl="0" marL="457200" rtl="0" algn="l">
              <a:lnSpc>
                <a:spcPct val="100000"/>
              </a:lnSpc>
              <a:spcBef>
                <a:spcPts val="0"/>
              </a:spcBef>
              <a:spcAft>
                <a:spcPts val="0"/>
              </a:spcAft>
              <a:buSzPts val="1100"/>
              <a:buChar char="●"/>
            </a:pPr>
            <a:r>
              <a:rPr lang="es" sz="1100"/>
              <a:t>Ya entrenan con cierta disciplina, pero necesitan un apoyo extra en planificación de entrenamientos.</a:t>
            </a:r>
            <a:endParaRPr sz="1100"/>
          </a:p>
          <a:p>
            <a:pPr indent="0" lvl="0" marL="0" rtl="0" algn="l">
              <a:spcBef>
                <a:spcPts val="1200"/>
              </a:spcBef>
              <a:spcAft>
                <a:spcPts val="0"/>
              </a:spcAft>
              <a:buNone/>
            </a:pPr>
            <a:r>
              <a:t/>
            </a:r>
            <a:endParaRPr sz="1300">
              <a:solidFill>
                <a:srgbClr val="595959"/>
              </a:solidFill>
              <a:latin typeface="Lato"/>
              <a:ea typeface="Lato"/>
              <a:cs typeface="Lato"/>
              <a:sym typeface="Lato"/>
            </a:endParaRPr>
          </a:p>
        </p:txBody>
      </p:sp>
      <p:sp>
        <p:nvSpPr>
          <p:cNvPr id="328" name="Google Shape;328;p21"/>
          <p:cNvSpPr txBox="1"/>
          <p:nvPr/>
        </p:nvSpPr>
        <p:spPr>
          <a:xfrm>
            <a:off x="6071375" y="2032975"/>
            <a:ext cx="2789400" cy="2757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1400"/>
              </a:spcBef>
              <a:spcAft>
                <a:spcPts val="0"/>
              </a:spcAft>
              <a:buNone/>
            </a:pPr>
            <a:r>
              <a:rPr b="1" lang="es" sz="1250"/>
              <a:t>Adicional – Personas con Hábitos Saludables en construcción</a:t>
            </a:r>
            <a:endParaRPr b="1" sz="1250"/>
          </a:p>
          <a:p>
            <a:pPr indent="-298450" lvl="0" marL="457200" rtl="0" algn="l">
              <a:lnSpc>
                <a:spcPct val="115000"/>
              </a:lnSpc>
              <a:spcBef>
                <a:spcPts val="1200"/>
              </a:spcBef>
              <a:spcAft>
                <a:spcPts val="0"/>
              </a:spcAft>
              <a:buSzPts val="1100"/>
              <a:buChar char="●"/>
            </a:pPr>
            <a:r>
              <a:rPr lang="es" sz="1100"/>
              <a:t>Adultos que buscan adoptar un estilo de vida más activo y saludable.</a:t>
            </a:r>
            <a:br>
              <a:rPr lang="es" sz="1100"/>
            </a:br>
            <a:endParaRPr sz="1100"/>
          </a:p>
          <a:p>
            <a:pPr indent="-298450" lvl="0" marL="457200" rtl="0" algn="l">
              <a:lnSpc>
                <a:spcPct val="115000"/>
              </a:lnSpc>
              <a:spcBef>
                <a:spcPts val="0"/>
              </a:spcBef>
              <a:spcAft>
                <a:spcPts val="0"/>
              </a:spcAft>
              <a:buSzPts val="1100"/>
              <a:buChar char="●"/>
            </a:pPr>
            <a:r>
              <a:rPr lang="es" sz="1100"/>
              <a:t>Pueden entrenar en casa o en el gimnasio, pero requieren orientación clara y sencilla.</a:t>
            </a:r>
            <a:endParaRPr sz="1100">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2"/>
          <p:cNvSpPr txBox="1"/>
          <p:nvPr>
            <p:ph type="title"/>
          </p:nvPr>
        </p:nvSpPr>
        <p:spPr>
          <a:xfrm>
            <a:off x="242850" y="1670975"/>
            <a:ext cx="2328900" cy="121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Mapa Tecnológico</a:t>
            </a:r>
            <a:endParaRPr/>
          </a:p>
        </p:txBody>
      </p:sp>
      <p:pic>
        <p:nvPicPr>
          <p:cNvPr id="334" name="Google Shape;334;p22"/>
          <p:cNvPicPr preferRelativeResize="0"/>
          <p:nvPr/>
        </p:nvPicPr>
        <p:blipFill>
          <a:blip r:embed="rId3">
            <a:alphaModFix/>
          </a:blip>
          <a:stretch>
            <a:fillRect/>
          </a:stretch>
        </p:blipFill>
        <p:spPr>
          <a:xfrm>
            <a:off x="2571750" y="217750"/>
            <a:ext cx="6385026" cy="47691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Herramientas para el desarrollo</a:t>
            </a:r>
            <a:endParaRPr/>
          </a:p>
        </p:txBody>
      </p:sp>
      <p:pic>
        <p:nvPicPr>
          <p:cNvPr id="340" name="Google Shape;340;p23"/>
          <p:cNvPicPr preferRelativeResize="0"/>
          <p:nvPr/>
        </p:nvPicPr>
        <p:blipFill>
          <a:blip r:embed="rId3">
            <a:alphaModFix/>
          </a:blip>
          <a:stretch>
            <a:fillRect/>
          </a:stretch>
        </p:blipFill>
        <p:spPr>
          <a:xfrm>
            <a:off x="218975" y="2057362"/>
            <a:ext cx="2074901" cy="1436475"/>
          </a:xfrm>
          <a:prstGeom prst="rect">
            <a:avLst/>
          </a:prstGeom>
          <a:noFill/>
          <a:ln>
            <a:noFill/>
          </a:ln>
        </p:spPr>
      </p:pic>
      <p:pic>
        <p:nvPicPr>
          <p:cNvPr id="341" name="Google Shape;341;p23"/>
          <p:cNvPicPr preferRelativeResize="0"/>
          <p:nvPr/>
        </p:nvPicPr>
        <p:blipFill>
          <a:blip r:embed="rId4">
            <a:alphaModFix/>
          </a:blip>
          <a:stretch>
            <a:fillRect/>
          </a:stretch>
        </p:blipFill>
        <p:spPr>
          <a:xfrm>
            <a:off x="2543725" y="2072240"/>
            <a:ext cx="1406735" cy="1406735"/>
          </a:xfrm>
          <a:prstGeom prst="rect">
            <a:avLst/>
          </a:prstGeom>
          <a:noFill/>
          <a:ln>
            <a:noFill/>
          </a:ln>
        </p:spPr>
      </p:pic>
      <p:pic>
        <p:nvPicPr>
          <p:cNvPr id="342" name="Google Shape;342;p23"/>
          <p:cNvPicPr preferRelativeResize="0"/>
          <p:nvPr/>
        </p:nvPicPr>
        <p:blipFill>
          <a:blip r:embed="rId5">
            <a:alphaModFix/>
          </a:blip>
          <a:stretch>
            <a:fillRect/>
          </a:stretch>
        </p:blipFill>
        <p:spPr>
          <a:xfrm>
            <a:off x="4094224" y="1983025"/>
            <a:ext cx="4042175" cy="1585175"/>
          </a:xfrm>
          <a:prstGeom prst="rect">
            <a:avLst/>
          </a:prstGeom>
          <a:noFill/>
          <a:ln>
            <a:noFill/>
          </a:ln>
        </p:spPr>
      </p:pic>
      <p:pic>
        <p:nvPicPr>
          <p:cNvPr id="343" name="Google Shape;343;p23"/>
          <p:cNvPicPr preferRelativeResize="0"/>
          <p:nvPr/>
        </p:nvPicPr>
        <p:blipFill>
          <a:blip r:embed="rId6">
            <a:alphaModFix/>
          </a:blip>
          <a:stretch>
            <a:fillRect/>
          </a:stretch>
        </p:blipFill>
        <p:spPr>
          <a:xfrm>
            <a:off x="2543725" y="3568199"/>
            <a:ext cx="1406724" cy="1406726"/>
          </a:xfrm>
          <a:prstGeom prst="rect">
            <a:avLst/>
          </a:prstGeom>
          <a:noFill/>
          <a:ln>
            <a:noFill/>
          </a:ln>
        </p:spPr>
      </p:pic>
      <p:pic>
        <p:nvPicPr>
          <p:cNvPr id="344" name="Google Shape;344;p23"/>
          <p:cNvPicPr preferRelativeResize="0"/>
          <p:nvPr/>
        </p:nvPicPr>
        <p:blipFill>
          <a:blip r:embed="rId7">
            <a:alphaModFix/>
          </a:blip>
          <a:stretch>
            <a:fillRect/>
          </a:stretch>
        </p:blipFill>
        <p:spPr>
          <a:xfrm>
            <a:off x="4139350" y="3591864"/>
            <a:ext cx="1359401" cy="13594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Metodología</a:t>
            </a:r>
            <a:endParaRPr/>
          </a:p>
        </p:txBody>
      </p:sp>
      <p:sp>
        <p:nvSpPr>
          <p:cNvPr id="350" name="Google Shape;350;p24"/>
          <p:cNvSpPr txBox="1"/>
          <p:nvPr>
            <p:ph idx="1" type="body"/>
          </p:nvPr>
        </p:nvSpPr>
        <p:spPr>
          <a:xfrm>
            <a:off x="5094925" y="3550775"/>
            <a:ext cx="3309300" cy="14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000000"/>
                </a:solidFill>
                <a:latin typeface="Lato"/>
                <a:ea typeface="Lato"/>
                <a:cs typeface="Lato"/>
                <a:sym typeface="Lato"/>
              </a:rPr>
              <a:t>-Manejo de Backlog a través de Jira</a:t>
            </a:r>
            <a:endParaRPr>
              <a:solidFill>
                <a:srgbClr val="000000"/>
              </a:solidFill>
              <a:latin typeface="Lato"/>
              <a:ea typeface="Lato"/>
              <a:cs typeface="Lato"/>
              <a:sym typeface="Lato"/>
            </a:endParaRPr>
          </a:p>
          <a:p>
            <a:pPr indent="0" lvl="0" marL="0" rtl="0" algn="l">
              <a:spcBef>
                <a:spcPts val="1200"/>
              </a:spcBef>
              <a:spcAft>
                <a:spcPts val="0"/>
              </a:spcAft>
              <a:buNone/>
            </a:pPr>
            <a:r>
              <a:rPr lang="es">
                <a:solidFill>
                  <a:srgbClr val="000000"/>
                </a:solidFill>
                <a:latin typeface="Lato"/>
                <a:ea typeface="Lato"/>
                <a:cs typeface="Lato"/>
                <a:sym typeface="Lato"/>
              </a:rPr>
              <a:t>-Reuniones cada 2 días de manera remota</a:t>
            </a:r>
            <a:endParaRPr>
              <a:solidFill>
                <a:srgbClr val="000000"/>
              </a:solidFill>
              <a:latin typeface="Lato"/>
              <a:ea typeface="Lato"/>
              <a:cs typeface="Lato"/>
              <a:sym typeface="Lato"/>
            </a:endParaRPr>
          </a:p>
          <a:p>
            <a:pPr indent="0" lvl="0" marL="0" rtl="0" algn="l">
              <a:spcBef>
                <a:spcPts val="1200"/>
              </a:spcBef>
              <a:spcAft>
                <a:spcPts val="1200"/>
              </a:spcAft>
              <a:buNone/>
            </a:pPr>
            <a:r>
              <a:rPr lang="es">
                <a:solidFill>
                  <a:srgbClr val="000000"/>
                </a:solidFill>
                <a:latin typeface="Lato"/>
                <a:ea typeface="Lato"/>
                <a:cs typeface="Lato"/>
                <a:sym typeface="Lato"/>
              </a:rPr>
              <a:t>-Tablero KanBan para flujo de trabajo</a:t>
            </a:r>
            <a:endParaRPr>
              <a:solidFill>
                <a:srgbClr val="000000"/>
              </a:solidFill>
            </a:endParaRPr>
          </a:p>
        </p:txBody>
      </p:sp>
      <p:pic>
        <p:nvPicPr>
          <p:cNvPr id="351" name="Google Shape;351;p24"/>
          <p:cNvPicPr preferRelativeResize="0"/>
          <p:nvPr/>
        </p:nvPicPr>
        <p:blipFill>
          <a:blip r:embed="rId3">
            <a:alphaModFix/>
          </a:blip>
          <a:stretch>
            <a:fillRect/>
          </a:stretch>
        </p:blipFill>
        <p:spPr>
          <a:xfrm>
            <a:off x="4477722" y="818300"/>
            <a:ext cx="4543724" cy="2533650"/>
          </a:xfrm>
          <a:prstGeom prst="rect">
            <a:avLst/>
          </a:prstGeom>
          <a:noFill/>
          <a:ln>
            <a:noFill/>
          </a:ln>
        </p:spPr>
      </p:pic>
      <p:sp>
        <p:nvSpPr>
          <p:cNvPr id="352" name="Google Shape;352;p24"/>
          <p:cNvSpPr txBox="1"/>
          <p:nvPr/>
        </p:nvSpPr>
        <p:spPr>
          <a:xfrm>
            <a:off x="73425" y="2121775"/>
            <a:ext cx="4404300" cy="226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latin typeface="Lato"/>
                <a:ea typeface="Lato"/>
                <a:cs typeface="Lato"/>
                <a:sym typeface="Lato"/>
              </a:rPr>
              <a:t>-Roles definidos:</a:t>
            </a:r>
            <a:endParaRPr sz="1300">
              <a:latin typeface="Lato"/>
              <a:ea typeface="Lato"/>
              <a:cs typeface="Lato"/>
              <a:sym typeface="Lato"/>
            </a:endParaRPr>
          </a:p>
          <a:p>
            <a:pPr indent="0" lvl="0" marL="0" rtl="0" algn="l">
              <a:lnSpc>
                <a:spcPct val="115000"/>
              </a:lnSpc>
              <a:spcBef>
                <a:spcPts val="1200"/>
              </a:spcBef>
              <a:spcAft>
                <a:spcPts val="0"/>
              </a:spcAft>
              <a:buNone/>
            </a:pPr>
            <a:r>
              <a:rPr lang="es" sz="1300">
                <a:latin typeface="Lato"/>
                <a:ea typeface="Lato"/>
                <a:cs typeface="Lato"/>
                <a:sym typeface="Lato"/>
              </a:rPr>
              <a:t>	-Camilo (Product Owner): Decisiones del producto</a:t>
            </a:r>
            <a:endParaRPr sz="1300">
              <a:latin typeface="Lato"/>
              <a:ea typeface="Lato"/>
              <a:cs typeface="Lato"/>
              <a:sym typeface="Lato"/>
            </a:endParaRPr>
          </a:p>
          <a:p>
            <a:pPr indent="0" lvl="0" marL="0" rtl="0" algn="l">
              <a:lnSpc>
                <a:spcPct val="115000"/>
              </a:lnSpc>
              <a:spcBef>
                <a:spcPts val="1200"/>
              </a:spcBef>
              <a:spcAft>
                <a:spcPts val="0"/>
              </a:spcAft>
              <a:buNone/>
            </a:pPr>
            <a:r>
              <a:rPr lang="es" sz="1300">
                <a:latin typeface="Lato"/>
                <a:ea typeface="Lato"/>
                <a:cs typeface="Lato"/>
                <a:sym typeface="Lato"/>
              </a:rPr>
              <a:t>	-Martín (Scrum Master): Manejo de metodología</a:t>
            </a:r>
            <a:endParaRPr sz="1300">
              <a:latin typeface="Lato"/>
              <a:ea typeface="Lato"/>
              <a:cs typeface="Lato"/>
              <a:sym typeface="Lato"/>
            </a:endParaRPr>
          </a:p>
          <a:p>
            <a:pPr indent="0" lvl="0" marL="0" rtl="0" algn="l">
              <a:lnSpc>
                <a:spcPct val="115000"/>
              </a:lnSpc>
              <a:spcBef>
                <a:spcPts val="1200"/>
              </a:spcBef>
              <a:spcAft>
                <a:spcPts val="0"/>
              </a:spcAft>
              <a:buNone/>
            </a:pPr>
            <a:r>
              <a:rPr lang="es" sz="1300">
                <a:latin typeface="Lato"/>
                <a:ea typeface="Lato"/>
                <a:cs typeface="Lato"/>
                <a:sym typeface="Lato"/>
              </a:rPr>
              <a:t>	-Camilo y Tomás: Desarrolladores Front end</a:t>
            </a:r>
            <a:endParaRPr sz="1300">
              <a:latin typeface="Lato"/>
              <a:ea typeface="Lato"/>
              <a:cs typeface="Lato"/>
              <a:sym typeface="Lato"/>
            </a:endParaRPr>
          </a:p>
          <a:p>
            <a:pPr indent="0" lvl="0" marL="0" rtl="0" algn="l">
              <a:lnSpc>
                <a:spcPct val="115000"/>
              </a:lnSpc>
              <a:spcBef>
                <a:spcPts val="1200"/>
              </a:spcBef>
              <a:spcAft>
                <a:spcPts val="1200"/>
              </a:spcAft>
              <a:buNone/>
            </a:pPr>
            <a:r>
              <a:rPr lang="es" sz="1300">
                <a:latin typeface="Lato"/>
                <a:ea typeface="Lato"/>
                <a:cs typeface="Lato"/>
                <a:sym typeface="Lato"/>
              </a:rPr>
              <a:t>	-Martín y Tomás: Desarrolladores Back end</a:t>
            </a:r>
            <a:endParaRPr sz="1300">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Metodología</a:t>
            </a:r>
            <a:endParaRPr/>
          </a:p>
        </p:txBody>
      </p:sp>
      <p:sp>
        <p:nvSpPr>
          <p:cNvPr id="358" name="Google Shape;358;p2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59" name="Google Shape;359;p25"/>
          <p:cNvPicPr preferRelativeResize="0"/>
          <p:nvPr/>
        </p:nvPicPr>
        <p:blipFill>
          <a:blip r:embed="rId3">
            <a:alphaModFix/>
          </a:blip>
          <a:stretch>
            <a:fillRect/>
          </a:stretch>
        </p:blipFill>
        <p:spPr>
          <a:xfrm>
            <a:off x="0" y="1941192"/>
            <a:ext cx="9144001" cy="25364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6"/>
          <p:cNvSpPr txBox="1"/>
          <p:nvPr>
            <p:ph type="title"/>
          </p:nvPr>
        </p:nvSpPr>
        <p:spPr>
          <a:xfrm>
            <a:off x="1253525" y="369475"/>
            <a:ext cx="2655900" cy="259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Sprint Planning y Product Backlog</a:t>
            </a:r>
            <a:endParaRPr/>
          </a:p>
        </p:txBody>
      </p:sp>
      <p:sp>
        <p:nvSpPr>
          <p:cNvPr id="365" name="Google Shape;365;p2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6" name="Google Shape;366;p26"/>
          <p:cNvPicPr preferRelativeResize="0"/>
          <p:nvPr/>
        </p:nvPicPr>
        <p:blipFill>
          <a:blip r:embed="rId3">
            <a:alphaModFix/>
          </a:blip>
          <a:stretch>
            <a:fillRect/>
          </a:stretch>
        </p:blipFill>
        <p:spPr>
          <a:xfrm>
            <a:off x="4952850" y="127747"/>
            <a:ext cx="3500400" cy="2976075"/>
          </a:xfrm>
          <a:prstGeom prst="rect">
            <a:avLst/>
          </a:prstGeom>
          <a:noFill/>
          <a:ln>
            <a:noFill/>
          </a:ln>
        </p:spPr>
      </p:pic>
      <p:pic>
        <p:nvPicPr>
          <p:cNvPr id="367" name="Google Shape;367;p26"/>
          <p:cNvPicPr preferRelativeResize="0"/>
          <p:nvPr/>
        </p:nvPicPr>
        <p:blipFill>
          <a:blip r:embed="rId4">
            <a:alphaModFix/>
          </a:blip>
          <a:stretch>
            <a:fillRect/>
          </a:stretch>
        </p:blipFill>
        <p:spPr>
          <a:xfrm>
            <a:off x="152400" y="3205350"/>
            <a:ext cx="8789599" cy="17701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Sprint Retrospectives</a:t>
            </a:r>
            <a:endParaRPr/>
          </a:p>
        </p:txBody>
      </p:sp>
      <p:sp>
        <p:nvSpPr>
          <p:cNvPr id="373" name="Google Shape;373;p27"/>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4" name="Google Shape;374;p27"/>
          <p:cNvPicPr preferRelativeResize="0"/>
          <p:nvPr/>
        </p:nvPicPr>
        <p:blipFill>
          <a:blip r:embed="rId3">
            <a:alphaModFix/>
          </a:blip>
          <a:stretch>
            <a:fillRect/>
          </a:stretch>
        </p:blipFill>
        <p:spPr>
          <a:xfrm>
            <a:off x="918401" y="1721875"/>
            <a:ext cx="7307199" cy="2778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Desarrollo y riesgos</a:t>
            </a:r>
            <a:endParaRPr/>
          </a:p>
        </p:txBody>
      </p:sp>
      <p:sp>
        <p:nvSpPr>
          <p:cNvPr id="380" name="Google Shape;380;p28"/>
          <p:cNvSpPr txBox="1"/>
          <p:nvPr>
            <p:ph idx="1" type="body"/>
          </p:nvPr>
        </p:nvSpPr>
        <p:spPr>
          <a:xfrm>
            <a:off x="1303800" y="1515875"/>
            <a:ext cx="7030500" cy="30159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b="1" lang="es" sz="1100">
                <a:solidFill>
                  <a:srgbClr val="000000"/>
                </a:solidFill>
                <a:latin typeface="Arial"/>
                <a:ea typeface="Arial"/>
                <a:cs typeface="Arial"/>
                <a:sym typeface="Arial"/>
              </a:rPr>
              <a:t>Desarrollo :</a:t>
            </a:r>
            <a:endParaRPr b="1" sz="1100">
              <a:solidFill>
                <a:srgbClr val="000000"/>
              </a:solidFill>
              <a:latin typeface="Arial"/>
              <a:ea typeface="Arial"/>
              <a:cs typeface="Arial"/>
              <a:sym typeface="Arial"/>
            </a:endParaRPr>
          </a:p>
          <a:p>
            <a:pPr indent="-282733" lvl="0" marL="457200" rtl="0" algn="l">
              <a:spcBef>
                <a:spcPts val="1200"/>
              </a:spcBef>
              <a:spcAft>
                <a:spcPts val="0"/>
              </a:spcAft>
              <a:buClr>
                <a:srgbClr val="000000"/>
              </a:buClr>
              <a:buSzPct val="100000"/>
              <a:buFont typeface="Arial"/>
              <a:buChar char="●"/>
            </a:pPr>
            <a:r>
              <a:rPr lang="es" sz="1100">
                <a:solidFill>
                  <a:srgbClr val="000000"/>
                </a:solidFill>
                <a:latin typeface="Arial"/>
                <a:ea typeface="Arial"/>
                <a:cs typeface="Arial"/>
                <a:sym typeface="Arial"/>
              </a:rPr>
              <a:t>Se completó el </a:t>
            </a:r>
            <a:r>
              <a:rPr b="1" lang="es" sz="1100">
                <a:solidFill>
                  <a:srgbClr val="000000"/>
                </a:solidFill>
                <a:latin typeface="Arial"/>
                <a:ea typeface="Arial"/>
                <a:cs typeface="Arial"/>
                <a:sym typeface="Arial"/>
              </a:rPr>
              <a:t>login con correo electrónico</a:t>
            </a:r>
            <a:r>
              <a:rPr lang="es" sz="1100">
                <a:solidFill>
                  <a:srgbClr val="000000"/>
                </a:solidFill>
                <a:latin typeface="Arial"/>
                <a:ea typeface="Arial"/>
                <a:cs typeface="Arial"/>
                <a:sym typeface="Arial"/>
              </a:rPr>
              <a:t> y la gestión de sesiones seguras.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es" sz="1100">
                <a:solidFill>
                  <a:srgbClr val="000000"/>
                </a:solidFill>
                <a:latin typeface="Arial"/>
                <a:ea typeface="Arial"/>
                <a:cs typeface="Arial"/>
                <a:sym typeface="Arial"/>
              </a:rPr>
              <a:t>Se desarrolló el </a:t>
            </a:r>
            <a:r>
              <a:rPr b="1" lang="es" sz="1100">
                <a:solidFill>
                  <a:srgbClr val="000000"/>
                </a:solidFill>
                <a:latin typeface="Arial"/>
                <a:ea typeface="Arial"/>
                <a:cs typeface="Arial"/>
                <a:sym typeface="Arial"/>
              </a:rPr>
              <a:t>módulo de perfil</a:t>
            </a:r>
            <a:r>
              <a:rPr lang="es" sz="1100">
                <a:solidFill>
                  <a:srgbClr val="000000"/>
                </a:solidFill>
                <a:latin typeface="Arial"/>
                <a:ea typeface="Arial"/>
                <a:cs typeface="Arial"/>
                <a:sym typeface="Arial"/>
              </a:rPr>
              <a:t>, permitiendo crear y editar datos físicos y objetivos.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es" sz="1100">
                <a:solidFill>
                  <a:srgbClr val="000000"/>
                </a:solidFill>
                <a:latin typeface="Arial"/>
                <a:ea typeface="Arial"/>
                <a:cs typeface="Arial"/>
                <a:sym typeface="Arial"/>
              </a:rPr>
              <a:t>Se integró la </a:t>
            </a:r>
            <a:r>
              <a:rPr b="1" lang="es" sz="1100">
                <a:solidFill>
                  <a:srgbClr val="000000"/>
                </a:solidFill>
                <a:latin typeface="Arial"/>
                <a:ea typeface="Arial"/>
                <a:cs typeface="Arial"/>
                <a:sym typeface="Arial"/>
              </a:rPr>
              <a:t>IA para generar rutinas personalizadas</a:t>
            </a:r>
            <a:r>
              <a:rPr lang="es" sz="1100">
                <a:solidFill>
                  <a:srgbClr val="000000"/>
                </a:solidFill>
                <a:latin typeface="Arial"/>
                <a:ea typeface="Arial"/>
                <a:cs typeface="Arial"/>
                <a:sym typeface="Arial"/>
              </a:rPr>
              <a:t>, operativa y validada con pruebas internas.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es" sz="1100">
                <a:solidFill>
                  <a:srgbClr val="000000"/>
                </a:solidFill>
                <a:latin typeface="Arial"/>
                <a:ea typeface="Arial"/>
                <a:cs typeface="Arial"/>
                <a:sym typeface="Arial"/>
              </a:rPr>
              <a:t>Se completó la </a:t>
            </a:r>
            <a:r>
              <a:rPr b="1" lang="es" sz="1100">
                <a:solidFill>
                  <a:srgbClr val="000000"/>
                </a:solidFill>
                <a:latin typeface="Arial"/>
                <a:ea typeface="Arial"/>
                <a:cs typeface="Arial"/>
                <a:sym typeface="Arial"/>
              </a:rPr>
              <a:t>conexión full Angular ↔ Django ↔ PostgreSQL</a:t>
            </a:r>
            <a:r>
              <a:rPr lang="es" sz="1100">
                <a:solidFill>
                  <a:srgbClr val="000000"/>
                </a:solidFill>
                <a:latin typeface="Arial"/>
                <a:ea typeface="Arial"/>
                <a:cs typeface="Arial"/>
                <a:sym typeface="Arial"/>
              </a:rPr>
              <a:t>, con endpoints estables.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s" sz="1100">
                <a:solidFill>
                  <a:srgbClr val="000000"/>
                </a:solidFill>
                <a:latin typeface="Arial"/>
                <a:ea typeface="Arial"/>
                <a:cs typeface="Arial"/>
                <a:sym typeface="Arial"/>
              </a:rPr>
              <a:t>Riesgos:</a:t>
            </a:r>
            <a:endParaRPr b="1" sz="1100">
              <a:solidFill>
                <a:srgbClr val="000000"/>
              </a:solidFill>
              <a:latin typeface="Arial"/>
              <a:ea typeface="Arial"/>
              <a:cs typeface="Arial"/>
              <a:sym typeface="Arial"/>
            </a:endParaRPr>
          </a:p>
          <a:p>
            <a:pPr indent="-282733" lvl="0" marL="457200" rtl="0" algn="l">
              <a:spcBef>
                <a:spcPts val="120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Mala planificación por práctica profesional</a:t>
            </a:r>
            <a:r>
              <a:rPr lang="es" sz="1100">
                <a:solidFill>
                  <a:srgbClr val="000000"/>
                </a:solidFill>
                <a:latin typeface="Arial"/>
                <a:ea typeface="Arial"/>
                <a:cs typeface="Arial"/>
                <a:sym typeface="Arial"/>
              </a:rPr>
              <a:t> → generó retrasos en el login. </a:t>
            </a:r>
            <a:r>
              <a:rPr i="1" lang="es" sz="1100">
                <a:solidFill>
                  <a:srgbClr val="000000"/>
                </a:solidFill>
                <a:latin typeface="Arial"/>
                <a:ea typeface="Arial"/>
                <a:cs typeface="Arial"/>
                <a:sym typeface="Arial"/>
              </a:rPr>
              <a:t>Mitigado replanificando el sprint</a:t>
            </a:r>
            <a:r>
              <a:rPr lang="es" sz="1100">
                <a:solidFill>
                  <a:srgbClr val="000000"/>
                </a:solidFill>
                <a:latin typeface="Arial"/>
                <a:ea typeface="Arial"/>
                <a:cs typeface="Arial"/>
                <a:sym typeface="Arial"/>
              </a:rPr>
              <a:t>.</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Complejidad técnica de la IA</a:t>
            </a:r>
            <a:r>
              <a:rPr lang="es" sz="1100">
                <a:solidFill>
                  <a:srgbClr val="000000"/>
                </a:solidFill>
                <a:latin typeface="Arial"/>
                <a:ea typeface="Arial"/>
                <a:cs typeface="Arial"/>
                <a:sym typeface="Arial"/>
              </a:rPr>
              <a:t> → riesgo inicial de no implementarla. </a:t>
            </a:r>
            <a:r>
              <a:rPr i="1" lang="es" sz="1100">
                <a:solidFill>
                  <a:srgbClr val="000000"/>
                </a:solidFill>
                <a:latin typeface="Arial"/>
                <a:ea typeface="Arial"/>
                <a:cs typeface="Arial"/>
                <a:sym typeface="Arial"/>
              </a:rPr>
              <a:t>Mitigado tras priorización recomendada por el docente</a:t>
            </a:r>
            <a:r>
              <a:rPr lang="es" sz="1100">
                <a:solidFill>
                  <a:srgbClr val="000000"/>
                </a:solidFill>
                <a:latin typeface="Arial"/>
                <a:ea typeface="Arial"/>
                <a:cs typeface="Arial"/>
                <a:sym typeface="Arial"/>
              </a:rPr>
              <a:t>.</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b="1" lang="es" sz="1100">
                <a:solidFill>
                  <a:srgbClr val="000000"/>
                </a:solidFill>
                <a:latin typeface="Arial"/>
                <a:ea typeface="Arial"/>
                <a:cs typeface="Arial"/>
                <a:sym typeface="Arial"/>
              </a:rPr>
              <a:t>Falta de experiencia del equipo en Django Rest</a:t>
            </a:r>
            <a:r>
              <a:rPr lang="es" sz="1100">
                <a:solidFill>
                  <a:srgbClr val="000000"/>
                </a:solidFill>
                <a:latin typeface="Arial"/>
                <a:ea typeface="Arial"/>
                <a:cs typeface="Arial"/>
                <a:sym typeface="Arial"/>
              </a:rPr>
              <a:t> → aumentó el tiempo de desarrollo. </a:t>
            </a:r>
            <a:r>
              <a:rPr i="1" lang="es" sz="1100">
                <a:solidFill>
                  <a:srgbClr val="000000"/>
                </a:solidFill>
                <a:latin typeface="Arial"/>
                <a:ea typeface="Arial"/>
                <a:cs typeface="Arial"/>
                <a:sym typeface="Arial"/>
              </a:rPr>
              <a:t>Mitigado con documentación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9"/>
          <p:cNvSpPr txBox="1"/>
          <p:nvPr>
            <p:ph type="title"/>
          </p:nvPr>
        </p:nvSpPr>
        <p:spPr>
          <a:xfrm>
            <a:off x="1303800" y="598575"/>
            <a:ext cx="7030500" cy="79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Modelo de Negocio</a:t>
            </a:r>
            <a:endParaRPr/>
          </a:p>
        </p:txBody>
      </p:sp>
      <p:sp>
        <p:nvSpPr>
          <p:cNvPr id="386" name="Google Shape;386;p29"/>
          <p:cNvSpPr txBox="1"/>
          <p:nvPr/>
        </p:nvSpPr>
        <p:spPr>
          <a:xfrm>
            <a:off x="1102300" y="1646675"/>
            <a:ext cx="3195000" cy="318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lang="es" sz="1000"/>
              <a:t>1. Estrategia Principal: E-Commerce Afiliado</a:t>
            </a:r>
            <a:endParaRPr sz="1000"/>
          </a:p>
          <a:p>
            <a:pPr indent="0" lvl="0" marL="0" rtl="0" algn="l">
              <a:lnSpc>
                <a:spcPct val="115000"/>
              </a:lnSpc>
              <a:spcBef>
                <a:spcPts val="1200"/>
              </a:spcBef>
              <a:spcAft>
                <a:spcPts val="0"/>
              </a:spcAft>
              <a:buNone/>
            </a:pPr>
            <a:r>
              <a:rPr lang="es" sz="1000"/>
              <a:t>La app incorpora un módulo llamado “Tienda”, donde se exhiben productos deportivos provenientes de distintas marcas y tiendas especializadas. Estos productos no son vendidos directamente por la aplicación, sino que se redirige al usuario hacia las plataformas externas correspondientes.</a:t>
            </a:r>
            <a:endParaRPr sz="1000"/>
          </a:p>
          <a:p>
            <a:pPr indent="0" lvl="0" marL="0" rtl="0" algn="l">
              <a:lnSpc>
                <a:spcPct val="115000"/>
              </a:lnSpc>
              <a:spcBef>
                <a:spcPts val="1200"/>
              </a:spcBef>
              <a:spcAft>
                <a:spcPts val="1200"/>
              </a:spcAft>
              <a:buNone/>
            </a:pPr>
            <a:r>
              <a:rPr lang="es" sz="1000"/>
              <a:t>A través de esta estrategia, la aplicación recibe una comisión por cada venta realizada mediante los enlaces publicados en la sección. Esto permite generar ingresos sin necesidad de gestionar inventario, logística, bodegas ni procesos de distribución; reduciendo costos operativos y escalando fácilmente la oferta de productos.</a:t>
            </a:r>
            <a:endParaRPr b="1" sz="1200"/>
          </a:p>
        </p:txBody>
      </p:sp>
      <p:sp>
        <p:nvSpPr>
          <p:cNvPr id="387" name="Google Shape;387;p29"/>
          <p:cNvSpPr txBox="1"/>
          <p:nvPr/>
        </p:nvSpPr>
        <p:spPr>
          <a:xfrm>
            <a:off x="4973900" y="1646675"/>
            <a:ext cx="3078000" cy="3147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s" sz="1000"/>
              <a:t>2. Publicidad Selectiva en la Versión Gratuita</a:t>
            </a:r>
            <a:endParaRPr sz="1000"/>
          </a:p>
          <a:p>
            <a:pPr indent="0" lvl="0" marL="0" rtl="0" algn="l">
              <a:lnSpc>
                <a:spcPct val="115000"/>
              </a:lnSpc>
              <a:spcBef>
                <a:spcPts val="1200"/>
              </a:spcBef>
              <a:spcAft>
                <a:spcPts val="1200"/>
              </a:spcAft>
              <a:buNone/>
            </a:pPr>
            <a:r>
              <a:rPr lang="es" sz="1000"/>
              <a:t>La aplicación incorpora espacios publicitarios para la versión gratuita.</a:t>
            </a:r>
            <a:br>
              <a:rPr lang="es" sz="1000"/>
            </a:br>
            <a:br>
              <a:rPr lang="es" sz="1000"/>
            </a:br>
            <a:r>
              <a:rPr lang="es" sz="1000"/>
              <a:t> -Los anuncios mostrados estarán relacionados con deporte, salud, indumentaria deportiva, suplementos, alimentación saludable, y productos alineados al perfil del usuario. Esto mejora la experiencia del usuario y aumenta la efectividad de los anuncios.</a:t>
            </a:r>
            <a:br>
              <a:rPr lang="es" sz="1000"/>
            </a:br>
            <a:br>
              <a:rPr lang="es" sz="1000"/>
            </a:br>
            <a:r>
              <a:rPr lang="es" sz="1000"/>
              <a:t>-Pagos por impresión o clic:</a:t>
            </a:r>
            <a:br>
              <a:rPr lang="es" sz="1000"/>
            </a:br>
            <a:r>
              <a:rPr lang="es" sz="1000"/>
              <a:t> Las marcas interesadas podrán pagar por aparecer dentro de ciertos espacios de la aplicación, ya sea bajo modalidad CPC (Costo por Clic) o CPM (Costo por Mil Impresiones).</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0"/>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Demo Aplicación</a:t>
            </a:r>
            <a:endParaRPr/>
          </a:p>
        </p:txBody>
      </p:sp>
      <p:sp>
        <p:nvSpPr>
          <p:cNvPr id="398" name="Google Shape;398;p3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99" name="Google Shape;399;p31"/>
          <p:cNvPicPr preferRelativeResize="0"/>
          <p:nvPr/>
        </p:nvPicPr>
        <p:blipFill>
          <a:blip r:embed="rId3">
            <a:alphaModFix/>
          </a:blip>
          <a:stretch>
            <a:fillRect/>
          </a:stretch>
        </p:blipFill>
        <p:spPr>
          <a:xfrm>
            <a:off x="1845063" y="1646301"/>
            <a:ext cx="5453875" cy="284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Conclusión</a:t>
            </a:r>
            <a:endParaRPr/>
          </a:p>
        </p:txBody>
      </p:sp>
      <p:sp>
        <p:nvSpPr>
          <p:cNvPr id="405" name="Google Shape;405;p32"/>
          <p:cNvSpPr txBox="1"/>
          <p:nvPr>
            <p:ph idx="1" type="body"/>
          </p:nvPr>
        </p:nvSpPr>
        <p:spPr>
          <a:xfrm>
            <a:off x="1303800" y="1692450"/>
            <a:ext cx="7030500" cy="3057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SzPts val="770"/>
              <a:buNone/>
            </a:pPr>
            <a:r>
              <a:rPr lang="es" sz="1510">
                <a:solidFill>
                  <a:srgbClr val="000000"/>
                </a:solidFill>
                <a:latin typeface="Arial"/>
                <a:ea typeface="Arial"/>
                <a:cs typeface="Arial"/>
                <a:sym typeface="Arial"/>
              </a:rPr>
              <a:t>-En un contexto donde el entrenamiento autónomo suele provocar lesiones, falta de progresión y resultados poco claros, nuestra plataforma combina la potencia de la Inteligencia Artificial con entrenamientos profesionales obtenidos desde una API especializada, permitiendo ofrecer planes realmente personalizados según el deporte, experiencia y objetivos de cada usuario.</a:t>
            </a:r>
            <a:endParaRPr sz="1510">
              <a:solidFill>
                <a:srgbClr val="000000"/>
              </a:solidFill>
              <a:latin typeface="Arial"/>
              <a:ea typeface="Arial"/>
              <a:cs typeface="Arial"/>
              <a:sym typeface="Arial"/>
            </a:endParaRPr>
          </a:p>
          <a:p>
            <a:pPr indent="0" lvl="0" marL="0" rtl="0" algn="l">
              <a:spcBef>
                <a:spcPts val="1200"/>
              </a:spcBef>
              <a:spcAft>
                <a:spcPts val="0"/>
              </a:spcAft>
              <a:buSzPts val="770"/>
              <a:buNone/>
            </a:pPr>
            <a:r>
              <a:rPr lang="es" sz="1510">
                <a:solidFill>
                  <a:srgbClr val="000000"/>
                </a:solidFill>
                <a:latin typeface="Arial"/>
                <a:ea typeface="Arial"/>
                <a:cs typeface="Arial"/>
                <a:sym typeface="Arial"/>
              </a:rPr>
              <a:t>-En definitiva, nuestra aplicación no solo busca mejorar el rendimiento deportivo, sino también promover la salud, reducir el riesgo de lesiones y entregar una herramienta confiable para quienes entrenan por su cuenta. Con este proyecto, demostramos que es posible unir tecnología, deporte y accesibilidad para ofrecer una solución moderna, útil y con un alto potencial de crecimiento.</a:t>
            </a:r>
            <a:endParaRPr sz="1510">
              <a:solidFill>
                <a:srgbClr val="000000"/>
              </a:solidFill>
              <a:latin typeface="Arial"/>
              <a:ea typeface="Arial"/>
              <a:cs typeface="Arial"/>
              <a:sym typeface="Arial"/>
            </a:endParaRPr>
          </a:p>
          <a:p>
            <a:pPr indent="0" lvl="0" marL="0" rtl="0" algn="l">
              <a:spcBef>
                <a:spcPts val="1200"/>
              </a:spcBef>
              <a:spcAft>
                <a:spcPts val="1200"/>
              </a:spcAft>
              <a:buSzPts val="770"/>
              <a:buNone/>
            </a:pPr>
            <a:r>
              <a:t/>
            </a:r>
            <a:endParaRPr sz="121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