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aleway Heavy" charset="1" panose="00000000000000000000"/>
      <p:regular r:id="rId21"/>
    </p:embeddedFont>
    <p:embeddedFont>
      <p:font typeface="Garet" charset="1" panose="00000000000000000000"/>
      <p:regular r:id="rId22"/>
    </p:embeddedFont>
    <p:embeddedFont>
      <p:font typeface="Raleway" charset="1" panose="00000000000000000000"/>
      <p:regular r:id="rId23"/>
    </p:embeddedFont>
    <p:embeddedFont>
      <p:font typeface="Garet Bold" charset="1" panose="00000000000000000000"/>
      <p:regular r:id="rId24"/>
    </p:embeddedFont>
    <p:embeddedFont>
      <p:font typeface="Raleway Semi-Bold" charset="1" panose="00000000000000000000"/>
      <p:regular r:id="rId25"/>
    </p:embeddedFont>
    <p:embeddedFont>
      <p:font typeface="Raleway Bold" charset="1" panose="00000000000000000000"/>
      <p:regular r:id="rId26"/>
    </p:embeddedFont>
    <p:embeddedFont>
      <p:font typeface="Montserrat Bold" charset="1" panose="00000800000000000000"/>
      <p:regular r:id="rId27"/>
    </p:embeddedFont>
    <p:embeddedFont>
      <p:font typeface="Montserrat" charset="1" panose="00000500000000000000"/>
      <p:regular r:id="rId28"/>
    </p:embeddedFont>
    <p:embeddedFont>
      <p:font typeface="Open Sans Bold" charset="1" panose="020B0806030504020204"/>
      <p:regular r:id="rId29"/>
    </p:embeddedFont>
    <p:embeddedFont>
      <p:font typeface="Open Sans" charset="1" panose="020B06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13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4155645"/>
            <a:ext cx="16044653" cy="239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7"/>
              </a:lnSpc>
            </a:pPr>
            <a:r>
              <a:rPr lang="en-US" b="true" sz="14685" spc="734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SPORTPLANNER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7919" y="6994772"/>
            <a:ext cx="5675166" cy="138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</a:t>
            </a:r>
          </a:p>
          <a:p>
            <a:pPr algn="l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Camilo Waghorn</a:t>
            </a:r>
          </a:p>
          <a:p>
            <a:pPr algn="l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Tomás Becerra</a:t>
            </a:r>
          </a:p>
          <a:p>
            <a:pPr algn="l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Martín Mur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479055" y="8563866"/>
            <a:ext cx="3272475" cy="50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sz="1452" spc="9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Capstone</a:t>
            </a:r>
          </a:p>
          <a:p>
            <a:pPr algn="l">
              <a:lnSpc>
                <a:spcPts val="2033"/>
              </a:lnSpc>
              <a:spcBef>
                <a:spcPct val="0"/>
              </a:spcBef>
            </a:pPr>
            <a:r>
              <a:rPr lang="en-US" sz="1452" spc="9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Aldo Martinez</a:t>
            </a:r>
          </a:p>
        </p:txBody>
      </p:sp>
      <p:sp>
        <p:nvSpPr>
          <p:cNvPr name="TextBox 18" id="18"/>
          <p:cNvSpPr txBox="true"/>
          <p:nvPr/>
        </p:nvSpPr>
        <p:spPr>
          <a:xfrm rot="-17737">
            <a:off x="14201031" y="1415891"/>
            <a:ext cx="2622496" cy="2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9"/>
              </a:lnSpc>
              <a:spcBef>
                <a:spcPct val="0"/>
              </a:spcBef>
            </a:pPr>
            <a:r>
              <a:rPr lang="en-US" sz="1457" spc="9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Diciembre, 2025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PROYECTO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73263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64911" y="3321098"/>
            <a:ext cx="11745122" cy="113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2"/>
              </a:lnSpc>
            </a:pPr>
            <a:r>
              <a:rPr lang="en-US" b="true" sz="7625" spc="2455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CONTENIDOS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4911" y="2247968"/>
            <a:ext cx="8011222" cy="10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36"/>
              </a:lnSpc>
            </a:pPr>
            <a:r>
              <a:rPr lang="en-US" sz="7049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Índice 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81365" y="4988955"/>
            <a:ext cx="5395619" cy="308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Contexto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Target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Tecnologías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Desarrollo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88669" y="4999069"/>
            <a:ext cx="1315493" cy="304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60640" y="5030281"/>
            <a:ext cx="1315493" cy="225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9033" y="5004561"/>
            <a:ext cx="6340267" cy="226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Modelo de Negocio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Demo Aplicación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Conclusión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39945" y="1486049"/>
            <a:ext cx="15131228" cy="105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7"/>
              </a:lnSpc>
            </a:pPr>
            <a:r>
              <a:rPr lang="en-US" b="true" sz="7137" spc="229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INTRODUCCIÓN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36260" y="2874566"/>
            <a:ext cx="8615481" cy="48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6"/>
              </a:lnSpc>
            </a:pPr>
            <a:r>
              <a:rPr lang="en-US" b="true" sz="3224" spc="70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Sobre 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26945" y="3728532"/>
            <a:ext cx="14357228" cy="601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325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-En</a:t>
            </a:r>
            <a:r>
              <a:rPr lang="en-US" sz="325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la actualidad, muchas personas buscan mejorar su rendimiento físico y mantener un estilo de vida saludable</a:t>
            </a:r>
          </a:p>
          <a:p>
            <a:pPr algn="l">
              <a:lnSpc>
                <a:spcPts val="5334"/>
              </a:lnSpc>
            </a:pPr>
          </a:p>
          <a:p>
            <a:pPr algn="l">
              <a:lnSpc>
                <a:spcPts val="5334"/>
              </a:lnSpc>
            </a:pPr>
            <a:r>
              <a:rPr lang="en-US" sz="325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-Sport Planner, una aplicación móvil que combina planes de entrenamiento específicos para distintos deportes</a:t>
            </a:r>
          </a:p>
          <a:p>
            <a:pPr algn="l">
              <a:lnSpc>
                <a:spcPts val="5334"/>
              </a:lnSpc>
            </a:pPr>
          </a:p>
          <a:p>
            <a:pPr algn="l">
              <a:lnSpc>
                <a:spcPts val="5334"/>
              </a:lnSpc>
            </a:pPr>
            <a:r>
              <a:rPr lang="en-US" sz="325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-La aplicación integra herramientas de planificación, seguimiento y recomendaciones personalizadas</a:t>
            </a:r>
          </a:p>
          <a:p>
            <a:pPr algn="l">
              <a:lnSpc>
                <a:spcPts val="5334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24127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24127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-75352">
            <a:off x="1089437" y="5976678"/>
            <a:ext cx="9774656" cy="2174468"/>
            <a:chOff x="0" y="0"/>
            <a:chExt cx="13032875" cy="2899290"/>
          </a:xfrm>
        </p:grpSpPr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2"/>
            <a:srcRect l="0" t="24132" r="0" b="24132"/>
            <a:stretch>
              <a:fillRect/>
            </a:stretch>
          </p:blipFill>
          <p:spPr>
            <a:xfrm flipH="false" flipV="false">
              <a:off x="0" y="0"/>
              <a:ext cx="13032875" cy="2899290"/>
            </a:xfrm>
            <a:prstGeom prst="rect">
              <a:avLst/>
            </a:prstGeom>
          </p:spPr>
        </p:pic>
      </p:grpSp>
      <p:grpSp>
        <p:nvGrpSpPr>
          <p:cNvPr name="Group 23" id="23"/>
          <p:cNvGrpSpPr/>
          <p:nvPr/>
        </p:nvGrpSpPr>
        <p:grpSpPr>
          <a:xfrm rot="143715">
            <a:off x="7443475" y="4056266"/>
            <a:ext cx="9774656" cy="2174468"/>
            <a:chOff x="0" y="0"/>
            <a:chExt cx="13032875" cy="2899290"/>
          </a:xfrm>
        </p:grpSpPr>
        <p:pic>
          <p:nvPicPr>
            <p:cNvPr name="Picture 24" id="24"/>
            <p:cNvPicPr>
              <a:picLocks noChangeAspect="true"/>
            </p:cNvPicPr>
            <p:nvPr/>
          </p:nvPicPr>
          <p:blipFill>
            <a:blip r:embed="rId3"/>
            <a:srcRect l="2187" t="0" r="2187" b="0"/>
            <a:stretch>
              <a:fillRect/>
            </a:stretch>
          </p:blipFill>
          <p:spPr>
            <a:xfrm flipH="false" flipV="false">
              <a:off x="0" y="0"/>
              <a:ext cx="13032875" cy="2899290"/>
            </a:xfrm>
            <a:prstGeom prst="rect">
              <a:avLst/>
            </a:prstGeom>
          </p:spPr>
        </p:pic>
      </p:grpSp>
      <p:grpSp>
        <p:nvGrpSpPr>
          <p:cNvPr name="Group 25" id="25"/>
          <p:cNvGrpSpPr/>
          <p:nvPr/>
        </p:nvGrpSpPr>
        <p:grpSpPr>
          <a:xfrm rot="-69692">
            <a:off x="1123221" y="2580144"/>
            <a:ext cx="8733701" cy="2327549"/>
            <a:chOff x="0" y="0"/>
            <a:chExt cx="11644934" cy="3103399"/>
          </a:xfrm>
        </p:grpSpPr>
        <p:pic>
          <p:nvPicPr>
            <p:cNvPr name="Picture 26" id="26"/>
            <p:cNvPicPr>
              <a:picLocks noChangeAspect="true"/>
            </p:cNvPicPr>
            <p:nvPr/>
          </p:nvPicPr>
          <p:blipFill>
            <a:blip r:embed="rId4"/>
            <a:srcRect l="0" t="17571" r="0" b="17571"/>
            <a:stretch>
              <a:fillRect/>
            </a:stretch>
          </p:blipFill>
          <p:spPr>
            <a:xfrm flipH="false" flipV="false">
              <a:off x="0" y="0"/>
              <a:ext cx="11644934" cy="3103399"/>
            </a:xfrm>
            <a:prstGeom prst="rect">
              <a:avLst/>
            </a:prstGeom>
          </p:spPr>
        </p:pic>
      </p:grpSp>
      <p:grpSp>
        <p:nvGrpSpPr>
          <p:cNvPr name="Group 27" id="27"/>
          <p:cNvGrpSpPr/>
          <p:nvPr/>
        </p:nvGrpSpPr>
        <p:grpSpPr>
          <a:xfrm rot="127126">
            <a:off x="8588848" y="7218768"/>
            <a:ext cx="8412229" cy="1898921"/>
            <a:chOff x="0" y="0"/>
            <a:chExt cx="11216305" cy="2531894"/>
          </a:xfrm>
        </p:grpSpPr>
        <p:pic>
          <p:nvPicPr>
            <p:cNvPr name="Picture 28" id="28"/>
            <p:cNvPicPr>
              <a:picLocks noChangeAspect="true"/>
            </p:cNvPicPr>
            <p:nvPr/>
          </p:nvPicPr>
          <p:blipFill>
            <a:blip r:embed="rId5"/>
            <a:srcRect l="0" t="1502" r="0" b="1502"/>
            <a:stretch>
              <a:fillRect/>
            </a:stretch>
          </p:blipFill>
          <p:spPr>
            <a:xfrm flipH="false" flipV="false">
              <a:off x="0" y="0"/>
              <a:ext cx="11216305" cy="2531894"/>
            </a:xfrm>
            <a:prstGeom prst="rect">
              <a:avLst/>
            </a:prstGeom>
          </p:spPr>
        </p:pic>
      </p:grpSp>
      <p:sp>
        <p:nvSpPr>
          <p:cNvPr name="TextBox 29" id="29"/>
          <p:cNvSpPr txBox="true"/>
          <p:nvPr/>
        </p:nvSpPr>
        <p:spPr>
          <a:xfrm rot="0">
            <a:off x="3646936" y="1329576"/>
            <a:ext cx="10917247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PROBLEMÁTICA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1262930" y="5451444"/>
            <a:ext cx="5845088" cy="3638568"/>
          </a:xfrm>
          <a:custGeom>
            <a:avLst/>
            <a:gdLst/>
            <a:ahLst/>
            <a:cxnLst/>
            <a:rect r="r" b="b" t="t" l="l"/>
            <a:pathLst>
              <a:path h="3638568" w="5845088">
                <a:moveTo>
                  <a:pt x="0" y="0"/>
                </a:moveTo>
                <a:lnTo>
                  <a:pt x="5845089" y="0"/>
                </a:lnTo>
                <a:lnTo>
                  <a:pt x="5845089" y="3638568"/>
                </a:lnTo>
                <a:lnTo>
                  <a:pt x="0" y="3638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77588" y="1727287"/>
            <a:ext cx="15126573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¿POR QUÉ NOSOTROS?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9002" y="2923023"/>
            <a:ext cx="15909017" cy="20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4"/>
              </a:lnSpc>
            </a:pPr>
            <a:r>
              <a:rPr lang="en-US" sz="2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diferencia de las aplicaciones tradicionales de fitness, que generalmente ofrecen rutinas genéricas y poco adaptadas a las necesidades reales de cada persona, nuestra aplicación está diseñada para entregar entrenamientos personalizados según el deporte, el nivel, los objetivos y el perfil físico del usuario.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7588" y="6671182"/>
            <a:ext cx="517177" cy="4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9002" y="5451444"/>
            <a:ext cx="795763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9002" y="7891957"/>
            <a:ext cx="795763" cy="4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53832" y="5413344"/>
            <a:ext cx="859344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 Personalización basada en IA y datos reales del usuario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476365" y="6464000"/>
            <a:ext cx="859344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Enfoque específico por deporte, muchas apps se centran solamente en rutinas de gimnasio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53832" y="7894551"/>
            <a:ext cx="85934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Tienda integrada con productos externos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73263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701210" y="2463293"/>
            <a:ext cx="5995795" cy="5995795"/>
          </a:xfrm>
          <a:custGeom>
            <a:avLst/>
            <a:gdLst/>
            <a:ahLst/>
            <a:cxnLst/>
            <a:rect r="r" b="b" t="t" l="l"/>
            <a:pathLst>
              <a:path h="5995795" w="5995795">
                <a:moveTo>
                  <a:pt x="0" y="0"/>
                </a:moveTo>
                <a:lnTo>
                  <a:pt x="5995794" y="0"/>
                </a:lnTo>
                <a:lnTo>
                  <a:pt x="5995794" y="5995795"/>
                </a:lnTo>
                <a:lnTo>
                  <a:pt x="0" y="5995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19474" y="2131898"/>
            <a:ext cx="5309747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TARGET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2209" y="3339899"/>
            <a:ext cx="8104276" cy="511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Principal – Deportistas Amateurs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-Personas que desean mejorar en un deporte específico o simplemente su condición física en general.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-No cuentan con entrenadores personalizados.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-Buscan una solución accesible y práctica para progresar por su cuenta con apoyo digital.</a:t>
            </a:r>
          </a:p>
          <a:p>
            <a:pPr algn="ctr">
              <a:lnSpc>
                <a:spcPts val="2960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222344" y="3903589"/>
            <a:ext cx="3059343" cy="3145069"/>
            <a:chOff x="0" y="0"/>
            <a:chExt cx="4079125" cy="4193425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2"/>
            <a:srcRect l="1362" t="0" r="1362" b="0"/>
            <a:stretch>
              <a:fillRect/>
            </a:stretch>
          </p:blipFill>
          <p:spPr>
            <a:xfrm flipH="false" flipV="false">
              <a:off x="0" y="0"/>
              <a:ext cx="4079125" cy="4193425"/>
            </a:xfrm>
            <a:prstGeom prst="rect">
              <a:avLst/>
            </a:prstGeom>
          </p:spPr>
        </p:pic>
      </p:grpSp>
      <p:grpSp>
        <p:nvGrpSpPr>
          <p:cNvPr name="Group 14" id="14"/>
          <p:cNvGrpSpPr/>
          <p:nvPr/>
        </p:nvGrpSpPr>
        <p:grpSpPr>
          <a:xfrm rot="0">
            <a:off x="4596495" y="3903589"/>
            <a:ext cx="2681590" cy="3145069"/>
            <a:chOff x="0" y="0"/>
            <a:chExt cx="3575454" cy="4193425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3"/>
            <a:srcRect l="2709" t="0" r="2709" b="0"/>
            <a:stretch>
              <a:fillRect/>
            </a:stretch>
          </p:blipFill>
          <p:spPr>
            <a:xfrm flipH="false" flipV="false">
              <a:off x="0" y="0"/>
              <a:ext cx="3575454" cy="4193425"/>
            </a:xfrm>
            <a:prstGeom prst="rect">
              <a:avLst/>
            </a:prstGeom>
          </p:spPr>
        </p:pic>
      </p:grpSp>
      <p:grpSp>
        <p:nvGrpSpPr>
          <p:cNvPr name="Group 16" id="16"/>
          <p:cNvGrpSpPr/>
          <p:nvPr/>
        </p:nvGrpSpPr>
        <p:grpSpPr>
          <a:xfrm rot="0">
            <a:off x="7592894" y="3903589"/>
            <a:ext cx="2814564" cy="3145069"/>
            <a:chOff x="0" y="0"/>
            <a:chExt cx="3752752" cy="4193425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4"/>
            <a:srcRect l="5254" t="0" r="5254" b="0"/>
            <a:stretch>
              <a:fillRect/>
            </a:stretch>
          </p:blipFill>
          <p:spPr>
            <a:xfrm flipH="false" flipV="false">
              <a:off x="0" y="0"/>
              <a:ext cx="3752752" cy="4193425"/>
            </a:xfrm>
            <a:prstGeom prst="rect">
              <a:avLst/>
            </a:prstGeom>
          </p:spPr>
        </p:pic>
      </p:grpSp>
      <p:grpSp>
        <p:nvGrpSpPr>
          <p:cNvPr name="Group 18" id="18"/>
          <p:cNvGrpSpPr/>
          <p:nvPr/>
        </p:nvGrpSpPr>
        <p:grpSpPr>
          <a:xfrm rot="0">
            <a:off x="10771875" y="3903589"/>
            <a:ext cx="2681590" cy="3145069"/>
            <a:chOff x="0" y="0"/>
            <a:chExt cx="3575454" cy="4193425"/>
          </a:xfrm>
        </p:grpSpPr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5"/>
            <a:srcRect l="6498" t="0" r="6498" b="0"/>
            <a:stretch>
              <a:fillRect/>
            </a:stretch>
          </p:blipFill>
          <p:spPr>
            <a:xfrm flipH="false" flipV="false">
              <a:off x="0" y="0"/>
              <a:ext cx="3575454" cy="4193425"/>
            </a:xfrm>
            <a:prstGeom prst="rect">
              <a:avLst/>
            </a:prstGeom>
          </p:spPr>
        </p:pic>
      </p:grpSp>
      <p:grpSp>
        <p:nvGrpSpPr>
          <p:cNvPr name="Group 20" id="20"/>
          <p:cNvGrpSpPr/>
          <p:nvPr/>
        </p:nvGrpSpPr>
        <p:grpSpPr>
          <a:xfrm rot="0">
            <a:off x="13767790" y="3903589"/>
            <a:ext cx="2990572" cy="3145069"/>
            <a:chOff x="0" y="0"/>
            <a:chExt cx="3987429" cy="4193425"/>
          </a:xfrm>
        </p:grpSpPr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6"/>
            <a:srcRect l="2456" t="0" r="2456" b="0"/>
            <a:stretch>
              <a:fillRect/>
            </a:stretch>
          </p:blipFill>
          <p:spPr>
            <a:xfrm flipH="false" flipV="false">
              <a:off x="0" y="0"/>
              <a:ext cx="3987429" cy="4193425"/>
            </a:xfrm>
            <a:prstGeom prst="rect">
              <a:avLst/>
            </a:prstGeom>
          </p:spPr>
        </p:pic>
      </p:grpSp>
      <p:sp>
        <p:nvSpPr>
          <p:cNvPr name="TextBox 22" id="22"/>
          <p:cNvSpPr txBox="true"/>
          <p:nvPr/>
        </p:nvSpPr>
        <p:spPr>
          <a:xfrm rot="0">
            <a:off x="1635535" y="1347741"/>
            <a:ext cx="15016929" cy="201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COMPETENCIAS DESARROLLADAS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8497" y="7424425"/>
            <a:ext cx="2681590" cy="127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</a:pPr>
            <a:r>
              <a:rPr lang="en-US" sz="222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Diseño, desarrollo e implementación de soluciones tecnológicas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96495" y="7573117"/>
            <a:ext cx="2681590" cy="6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</a:pPr>
            <a:r>
              <a:rPr lang="en-US" sz="222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Administración de bases de datos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92894" y="7540957"/>
            <a:ext cx="2681590" cy="127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</a:pPr>
            <a:r>
              <a:rPr lang="en-US" sz="222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Integración de herramientas para el desarrollo de software de calidad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71875" y="7424425"/>
            <a:ext cx="2681590" cy="158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</a:pPr>
            <a:r>
              <a:rPr lang="en-US" sz="222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Aplicación de metodologías ágiles y gestión de proyectos informáticos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22281" y="7424425"/>
            <a:ext cx="2681590" cy="127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</a:pPr>
            <a:r>
              <a:rPr lang="en-US" sz="222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Integración de modelos de predicción de Machine Learning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24127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24127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199849" y="3466346"/>
            <a:ext cx="5502220" cy="5502220"/>
          </a:xfrm>
          <a:custGeom>
            <a:avLst/>
            <a:gdLst/>
            <a:ahLst/>
            <a:cxnLst/>
            <a:rect r="r" b="b" t="t" l="l"/>
            <a:pathLst>
              <a:path h="5502220" w="5502220">
                <a:moveTo>
                  <a:pt x="0" y="0"/>
                </a:moveTo>
                <a:lnTo>
                  <a:pt x="5502219" y="0"/>
                </a:lnTo>
                <a:lnTo>
                  <a:pt x="5502219" y="5502219"/>
                </a:lnTo>
                <a:lnTo>
                  <a:pt x="0" y="5502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94984" y="2124429"/>
            <a:ext cx="15845326" cy="107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6"/>
              </a:lnSpc>
            </a:pPr>
            <a:r>
              <a:rPr lang="en-US" b="true" sz="7365" spc="2371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METODOLOGÍA SCRUM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4984" y="3839343"/>
            <a:ext cx="7849016" cy="542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2823" b="true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Roles definidos:</a:t>
            </a:r>
          </a:p>
          <a:p>
            <a:pPr algn="l">
              <a:lnSpc>
                <a:spcPts val="3952"/>
              </a:lnSpc>
            </a:pPr>
          </a:p>
          <a:p>
            <a:pPr algn="l">
              <a:lnSpc>
                <a:spcPts val="3952"/>
              </a:lnSpc>
            </a:pPr>
            <a:r>
              <a:rPr lang="en-US" sz="2823" b="true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-C</a:t>
            </a:r>
            <a:r>
              <a:rPr lang="en-US" b="true" sz="2823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amilo (Product Owner): Decisiones del producto</a:t>
            </a:r>
          </a:p>
          <a:p>
            <a:pPr algn="l">
              <a:lnSpc>
                <a:spcPts val="3952"/>
              </a:lnSpc>
            </a:pPr>
          </a:p>
          <a:p>
            <a:pPr algn="l">
              <a:lnSpc>
                <a:spcPts val="3952"/>
              </a:lnSpc>
            </a:pPr>
            <a:r>
              <a:rPr lang="en-US" b="true" sz="2823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-Martín (Scrum Master): Manejo de metodología</a:t>
            </a:r>
          </a:p>
          <a:p>
            <a:pPr algn="l">
              <a:lnSpc>
                <a:spcPts val="3952"/>
              </a:lnSpc>
            </a:pPr>
          </a:p>
          <a:p>
            <a:pPr algn="l">
              <a:lnSpc>
                <a:spcPts val="3952"/>
              </a:lnSpc>
            </a:pPr>
            <a:r>
              <a:rPr lang="en-US" b="true" sz="2823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-Camilo y Tomás: Desarrolladores Front end</a:t>
            </a:r>
          </a:p>
          <a:p>
            <a:pPr algn="l">
              <a:lnSpc>
                <a:spcPts val="3952"/>
              </a:lnSpc>
            </a:pPr>
            <a:r>
              <a:rPr lang="en-US" b="true" sz="2823">
                <a:solidFill>
                  <a:srgbClr val="2740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-Martín y Tomás: Desarrolladores Back end</a:t>
            </a:r>
          </a:p>
          <a:p>
            <a:pPr algn="l">
              <a:lnSpc>
                <a:spcPts val="395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222344" y="3903589"/>
            <a:ext cx="3059343" cy="3145069"/>
            <a:chOff x="0" y="0"/>
            <a:chExt cx="4079125" cy="4193425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2"/>
            <a:srcRect l="8780" t="0" r="8780" b="0"/>
            <a:stretch>
              <a:fillRect/>
            </a:stretch>
          </p:blipFill>
          <p:spPr>
            <a:xfrm flipH="false" flipV="false">
              <a:off x="0" y="0"/>
              <a:ext cx="4079125" cy="4193425"/>
            </a:xfrm>
            <a:prstGeom prst="rect">
              <a:avLst/>
            </a:prstGeom>
          </p:spPr>
        </p:pic>
      </p:grpSp>
      <p:grpSp>
        <p:nvGrpSpPr>
          <p:cNvPr name="Group 14" id="14"/>
          <p:cNvGrpSpPr/>
          <p:nvPr/>
        </p:nvGrpSpPr>
        <p:grpSpPr>
          <a:xfrm rot="0">
            <a:off x="4596495" y="3903589"/>
            <a:ext cx="2681590" cy="3145069"/>
            <a:chOff x="0" y="0"/>
            <a:chExt cx="3575454" cy="4193425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3"/>
            <a:srcRect l="7368" t="0" r="7368" b="0"/>
            <a:stretch>
              <a:fillRect/>
            </a:stretch>
          </p:blipFill>
          <p:spPr>
            <a:xfrm flipH="false" flipV="false">
              <a:off x="0" y="0"/>
              <a:ext cx="3575454" cy="4193425"/>
            </a:xfrm>
            <a:prstGeom prst="rect">
              <a:avLst/>
            </a:prstGeom>
          </p:spPr>
        </p:pic>
      </p:grpSp>
      <p:grpSp>
        <p:nvGrpSpPr>
          <p:cNvPr name="Group 16" id="16"/>
          <p:cNvGrpSpPr/>
          <p:nvPr/>
        </p:nvGrpSpPr>
        <p:grpSpPr>
          <a:xfrm rot="0">
            <a:off x="7592894" y="3903589"/>
            <a:ext cx="2814564" cy="3145069"/>
            <a:chOff x="0" y="0"/>
            <a:chExt cx="3752752" cy="4193425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4"/>
            <a:srcRect l="20169" t="0" r="20169" b="0"/>
            <a:stretch>
              <a:fillRect/>
            </a:stretch>
          </p:blipFill>
          <p:spPr>
            <a:xfrm flipH="false" flipV="false">
              <a:off x="0" y="0"/>
              <a:ext cx="3752752" cy="4193425"/>
            </a:xfrm>
            <a:prstGeom prst="rect">
              <a:avLst/>
            </a:prstGeom>
          </p:spPr>
        </p:pic>
      </p:grpSp>
      <p:grpSp>
        <p:nvGrpSpPr>
          <p:cNvPr name="Group 18" id="18"/>
          <p:cNvGrpSpPr/>
          <p:nvPr/>
        </p:nvGrpSpPr>
        <p:grpSpPr>
          <a:xfrm rot="0">
            <a:off x="10771875" y="3903589"/>
            <a:ext cx="2681590" cy="3145069"/>
            <a:chOff x="0" y="0"/>
            <a:chExt cx="3575454" cy="4193425"/>
          </a:xfrm>
        </p:grpSpPr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5"/>
            <a:srcRect l="7368" t="0" r="7368" b="0"/>
            <a:stretch>
              <a:fillRect/>
            </a:stretch>
          </p:blipFill>
          <p:spPr>
            <a:xfrm flipH="false" flipV="false">
              <a:off x="0" y="0"/>
              <a:ext cx="3575454" cy="4193425"/>
            </a:xfrm>
            <a:prstGeom prst="rect">
              <a:avLst/>
            </a:prstGeom>
          </p:spPr>
        </p:pic>
      </p:grpSp>
      <p:grpSp>
        <p:nvGrpSpPr>
          <p:cNvPr name="Group 20" id="20"/>
          <p:cNvGrpSpPr/>
          <p:nvPr/>
        </p:nvGrpSpPr>
        <p:grpSpPr>
          <a:xfrm rot="0">
            <a:off x="13767790" y="3903589"/>
            <a:ext cx="2990572" cy="3145069"/>
            <a:chOff x="0" y="0"/>
            <a:chExt cx="3987429" cy="4193425"/>
          </a:xfrm>
        </p:grpSpPr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6"/>
            <a:srcRect l="1516" t="0" r="1516" b="0"/>
            <a:stretch>
              <a:fillRect/>
            </a:stretch>
          </p:blipFill>
          <p:spPr>
            <a:xfrm flipH="false" flipV="false">
              <a:off x="0" y="0"/>
              <a:ext cx="3987429" cy="4193425"/>
            </a:xfrm>
            <a:prstGeom prst="rect">
              <a:avLst/>
            </a:prstGeom>
          </p:spPr>
        </p:pic>
      </p:grpSp>
      <p:sp>
        <p:nvSpPr>
          <p:cNvPr name="Freeform 22" id="22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91711" y="2164659"/>
            <a:ext cx="15016929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SCRUM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2344" y="7110227"/>
            <a:ext cx="3170236" cy="186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6"/>
              </a:lnSpc>
            </a:pPr>
            <a:r>
              <a:rPr lang="en-US" sz="262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Product Backlog a través de historias de usuario, priorización por planning poker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96495" y="7110227"/>
            <a:ext cx="2681590" cy="149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sz="262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Reuniones cada dos días con el equipo de manera remota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59380" y="7119625"/>
            <a:ext cx="2681590" cy="22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sz="262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Revisión del entregable al terminar el sprint y retrospectiva con el equipo, Estrategia WWW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71875" y="7132389"/>
            <a:ext cx="2681590" cy="18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sz="262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Lanzamiento del nuevo entregable y documentación final del sprint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22281" y="7132389"/>
            <a:ext cx="2681590" cy="22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sz="262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Nuevo sprint para construir el nuevo entregable y repetir el proceso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30621"/>
            <a:chOff x="0" y="0"/>
            <a:chExt cx="23268945" cy="1284082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441101" y="1151794"/>
            <a:ext cx="11060249" cy="7983412"/>
          </a:xfrm>
          <a:custGeom>
            <a:avLst/>
            <a:gdLst/>
            <a:ahLst/>
            <a:cxnLst/>
            <a:rect r="r" b="b" t="t" l="l"/>
            <a:pathLst>
              <a:path h="7983412" w="11060249">
                <a:moveTo>
                  <a:pt x="0" y="0"/>
                </a:moveTo>
                <a:lnTo>
                  <a:pt x="11060249" y="0"/>
                </a:lnTo>
                <a:lnTo>
                  <a:pt x="11060249" y="7983412"/>
                </a:lnTo>
                <a:lnTo>
                  <a:pt x="0" y="7983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" t="0" r="-77" b="-364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4060214"/>
            <a:ext cx="7863559" cy="132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b="true" sz="4544" spc="1463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MAPA TECNOLÓGICO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97686" y="3282473"/>
            <a:ext cx="6380663" cy="3722054"/>
          </a:xfrm>
          <a:custGeom>
            <a:avLst/>
            <a:gdLst/>
            <a:ahLst/>
            <a:cxnLst/>
            <a:rect r="r" b="b" t="t" l="l"/>
            <a:pathLst>
              <a:path h="3722054" w="6380663">
                <a:moveTo>
                  <a:pt x="0" y="0"/>
                </a:moveTo>
                <a:lnTo>
                  <a:pt x="6380663" y="0"/>
                </a:lnTo>
                <a:lnTo>
                  <a:pt x="6380663" y="3722054"/>
                </a:lnTo>
                <a:lnTo>
                  <a:pt x="0" y="3722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67539" y="1555035"/>
            <a:ext cx="6305310" cy="110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2"/>
              </a:lnSpc>
            </a:pPr>
            <a:r>
              <a:rPr lang="en-US" b="true" sz="7441" spc="2396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RIESGOS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401" y="4399169"/>
            <a:ext cx="14625489" cy="289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893" indent="-270947" lvl="1">
              <a:lnSpc>
                <a:spcPts val="3865"/>
              </a:lnSpc>
              <a:buFont typeface="Arial"/>
              <a:buChar char="•"/>
            </a:pPr>
            <a:r>
              <a:rPr lang="en-US" sz="25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Retraso por carga académica y práctica profesional</a:t>
            </a:r>
          </a:p>
          <a:p>
            <a:pPr algn="l" marL="541893" indent="-270947" lvl="1">
              <a:lnSpc>
                <a:spcPts val="3865"/>
              </a:lnSpc>
              <a:buFont typeface="Arial"/>
              <a:buChar char="•"/>
            </a:pPr>
            <a:r>
              <a:rPr lang="en-US" sz="25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Dificultad para integrar IA con backend</a:t>
            </a:r>
          </a:p>
          <a:p>
            <a:pPr algn="l" marL="541893" indent="-270947" lvl="1">
              <a:lnSpc>
                <a:spcPts val="3865"/>
              </a:lnSpc>
              <a:buFont typeface="Arial"/>
              <a:buChar char="•"/>
            </a:pPr>
            <a:r>
              <a:rPr lang="en-US" sz="25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Errores en conexión Angular ↔ Django</a:t>
            </a:r>
          </a:p>
          <a:p>
            <a:pPr algn="l" marL="541893" indent="-270947" lvl="1">
              <a:lnSpc>
                <a:spcPts val="3865"/>
              </a:lnSpc>
              <a:buFont typeface="Arial"/>
              <a:buChar char="•"/>
            </a:pPr>
            <a:r>
              <a:rPr lang="en-US" sz="25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Mala comunicación entre integrantes</a:t>
            </a:r>
          </a:p>
          <a:p>
            <a:pPr algn="l" marL="541893" indent="-270947" lvl="1">
              <a:lnSpc>
                <a:spcPts val="3865"/>
              </a:lnSpc>
              <a:buFont typeface="Arial"/>
              <a:buChar char="•"/>
            </a:pPr>
            <a:r>
              <a:rPr lang="en-US" sz="25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Errores en la base de datos o tablas mal diseñadas</a:t>
            </a:r>
          </a:p>
          <a:p>
            <a:pPr algn="l">
              <a:lnSpc>
                <a:spcPts val="386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31640" y="3741062"/>
            <a:ext cx="7588554" cy="4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</a:pPr>
            <a:r>
              <a:rPr lang="en-US" b="true" sz="3329" spc="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Analizando las mejores ideas.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34186" cy="4596335"/>
              </a:xfrm>
              <a:custGeom>
                <a:avLst/>
                <a:gdLst/>
                <a:ahLst/>
                <a:cxnLst/>
                <a:rect r="r" b="b" t="t" l="l"/>
                <a:pathLst>
                  <a:path h="4596335" w="334186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35724" cy="4476587"/>
              </a:xfrm>
              <a:custGeom>
                <a:avLst/>
                <a:gdLst/>
                <a:ahLst/>
                <a:cxnLst/>
                <a:rect r="r" b="b" t="t" l="l"/>
                <a:pathLst>
                  <a:path h="4476587" w="335724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38843" cy="4330374"/>
              </a:xfrm>
              <a:custGeom>
                <a:avLst/>
                <a:gdLst/>
                <a:ahLst/>
                <a:cxnLst/>
                <a:rect r="r" b="b" t="t" l="l"/>
                <a:pathLst>
                  <a:path h="4330374" w="338843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2239616" y="1351017"/>
            <a:ext cx="13731886" cy="208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2"/>
              </a:lnSpc>
            </a:pPr>
            <a:r>
              <a:rPr lang="en-US" b="true" sz="7142" spc="229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MODELO DE NEGOCIO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2463" y="3892623"/>
            <a:ext cx="7235679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Estrategia Principal: E-Commerce Afiliado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app incorpora un módulo llamado “Tienda”, donde se exhiben productos deportivos provenientes de distintas marcas y tiendas especializadas.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0" y="3892623"/>
            <a:ext cx="7916083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Publicidad Selectiva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aplicación incorpora espacios publicitarios para la versión gratuita.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Los anuncios mostrados estarán relacionados con deporte, salud, indumentaria deportiva,  productos alineados al perfil del usuario.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34186" cy="4596335"/>
              </a:xfrm>
              <a:custGeom>
                <a:avLst/>
                <a:gdLst/>
                <a:ahLst/>
                <a:cxnLst/>
                <a:rect r="r" b="b" t="t" l="l"/>
                <a:pathLst>
                  <a:path h="4596335" w="334186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35724" cy="4476587"/>
              </a:xfrm>
              <a:custGeom>
                <a:avLst/>
                <a:gdLst/>
                <a:ahLst/>
                <a:cxnLst/>
                <a:rect r="r" b="b" t="t" l="l"/>
                <a:pathLst>
                  <a:path h="4476587" w="335724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38843" cy="4330374"/>
              </a:xfrm>
              <a:custGeom>
                <a:avLst/>
                <a:gdLst/>
                <a:ahLst/>
                <a:cxnLst/>
                <a:rect r="r" b="b" t="t" l="l"/>
                <a:pathLst>
                  <a:path h="4330374" w="338843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865485" y="667652"/>
            <a:ext cx="16480149" cy="8823186"/>
          </a:xfrm>
          <a:custGeom>
            <a:avLst/>
            <a:gdLst/>
            <a:ahLst/>
            <a:cxnLst/>
            <a:rect r="r" b="b" t="t" l="l"/>
            <a:pathLst>
              <a:path h="8823186" w="16480149">
                <a:moveTo>
                  <a:pt x="0" y="0"/>
                </a:moveTo>
                <a:lnTo>
                  <a:pt x="16480149" y="0"/>
                </a:lnTo>
                <a:lnTo>
                  <a:pt x="16480149" y="8823186"/>
                </a:lnTo>
                <a:lnTo>
                  <a:pt x="0" y="8823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32" r="0" b="-2532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43754"/>
            <a:chOff x="0" y="0"/>
            <a:chExt cx="23268945" cy="128583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40085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0" y="841836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333905" y="2974538"/>
            <a:ext cx="11301259" cy="5890781"/>
          </a:xfrm>
          <a:custGeom>
            <a:avLst/>
            <a:gdLst/>
            <a:ahLst/>
            <a:cxnLst/>
            <a:rect r="r" b="b" t="t" l="l"/>
            <a:pathLst>
              <a:path h="5890781" w="11301259">
                <a:moveTo>
                  <a:pt x="0" y="0"/>
                </a:moveTo>
                <a:lnTo>
                  <a:pt x="11301259" y="0"/>
                </a:lnTo>
                <a:lnTo>
                  <a:pt x="11301259" y="5890781"/>
                </a:lnTo>
                <a:lnTo>
                  <a:pt x="0" y="5890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868298" y="1256712"/>
            <a:ext cx="104745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27403B"/>
                </a:solidFill>
                <a:latin typeface="Open Sans"/>
                <a:ea typeface="Open Sans"/>
                <a:cs typeface="Open Sans"/>
                <a:sym typeface="Open Sans"/>
              </a:rPr>
              <a:t>DEMO APLICACIÓN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64911" y="3337396"/>
            <a:ext cx="13019115" cy="115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b="true" sz="7868" spc="2533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CONCLUSIÓN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0682" y="5136778"/>
            <a:ext cx="14386635" cy="283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3"/>
              </a:lnSpc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</a:t>
            </a: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estra aplicación no solo busca mejorar el rendimiento deportivo, sino también promover la salud, reducir el riesgo de lesiones y entregar una herramienta confiable para quienes entrenan por su cuenta.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7385" y="903499"/>
            <a:ext cx="3118360" cy="767896"/>
          </a:xfrm>
          <a:custGeom>
            <a:avLst/>
            <a:gdLst/>
            <a:ahLst/>
            <a:cxnLst/>
            <a:rect r="r" b="b" t="t" l="l"/>
            <a:pathLst>
              <a:path h="767896" w="3118360">
                <a:moveTo>
                  <a:pt x="0" y="0"/>
                </a:moveTo>
                <a:lnTo>
                  <a:pt x="3118359" y="0"/>
                </a:lnTo>
                <a:lnTo>
                  <a:pt x="3118359" y="767897"/>
                </a:lnTo>
                <a:lnTo>
                  <a:pt x="0" y="767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DAG5ne7bQXQ</dc:identifier>
  <dcterms:modified xsi:type="dcterms:W3CDTF">2011-08-01T06:04:30Z</dcterms:modified>
  <cp:revision>1</cp:revision>
  <dc:title>Proyecto</dc:title>
</cp:coreProperties>
</file>